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D238A0-277E-42B0-8086-672B803568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AE54D7-3915-4512-A17F-AB7F4EDE96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4E0A26-A232-4C8C-8763-FA1077F675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E89079-1A36-492C-98DD-9FDBEB2E45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6249BD6-D190-464B-8ADC-40C9B38C89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CB84EC-283B-4FC6-B74E-0E8A305D17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464265-691D-4F69-854E-9F01377953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77F439-9B6B-424B-996C-D82F2A0B89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35B776-A9A1-4D25-80EE-772B98B2E9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6B0B80-90EB-4FE6-93F6-83BBF9A726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95D7266-8AE1-4D28-9E00-BDA7BC11DF6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39EA7DC-DD44-442A-AC29-12F1EAB64B6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1C5376-9324-4FEE-B382-AE7BDDC2778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PT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PT Sans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PT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PT Sans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PT Sans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PT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PT Sans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PT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PT Sans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PT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PT Sans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PT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PT Sans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PT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PT Sans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PT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89600" cy="6855840"/>
          </a:xfrm>
          <a:prstGeom prst="rect">
            <a:avLst/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pic>
        <p:nvPicPr>
          <p:cNvPr id="42" name="Picture 2" descr="s01_title.png"/>
          <p:cNvPicPr/>
          <p:nvPr/>
        </p:nvPicPr>
        <p:blipFill>
          <a:blip r:embed="rId1"/>
          <a:stretch/>
        </p:blipFill>
        <p:spPr>
          <a:xfrm>
            <a:off x="5580000" y="1852200"/>
            <a:ext cx="6609960" cy="3186000"/>
          </a:xfrm>
          <a:prstGeom prst="rect">
            <a:avLst/>
          </a:prstGeom>
          <a:ln w="0">
            <a:noFill/>
          </a:ln>
        </p:spPr>
      </p:pic>
      <p:sp>
        <p:nvSpPr>
          <p:cNvPr id="43" name="Rectangle 3"/>
          <p:cNvSpPr/>
          <p:nvPr/>
        </p:nvSpPr>
        <p:spPr>
          <a:xfrm>
            <a:off x="0" y="0"/>
            <a:ext cx="5578200" cy="6855840"/>
          </a:xfrm>
          <a:prstGeom prst="rect">
            <a:avLst/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" name="TextBox 5"/>
          <p:cNvSpPr/>
          <p:nvPr/>
        </p:nvSpPr>
        <p:spPr>
          <a:xfrm>
            <a:off x="640080" y="3749040"/>
            <a:ext cx="5484240" cy="9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d6eeea"/>
                </a:solidFill>
                <a:latin typeface="Calibri"/>
                <a:ea typeface="DejaVu Sans"/>
              </a:rPr>
              <a:t>alter-macros · импортозамещение · ACell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5" name="TextBox 6"/>
          <p:cNvSpPr/>
          <p:nvPr/>
        </p:nvSpPr>
        <p:spPr>
          <a:xfrm>
            <a:off x="640080" y="5040000"/>
            <a:ext cx="3318120" cy="11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a6a78"/>
                </a:solidFill>
                <a:latin typeface="Calibri"/>
                <a:ea typeface="DejaVu Sans"/>
              </a:rPr>
              <a:t>ППУ-ХХХХХХ · </a:t>
            </a:r>
            <a:br>
              <a:rPr sz="1200"/>
            </a:br>
            <a:r>
              <a:rPr b="0" lang="en-US" sz="1200" spc="-1" strike="noStrike">
                <a:solidFill>
                  <a:srgbClr val="5a6a78"/>
                </a:solidFill>
                <a:latin typeface="Calibri"/>
                <a:ea typeface="DejaVu Sans"/>
              </a:rPr>
              <a:t>Предприятие</a:t>
            </a:r>
            <a:br>
              <a:rPr sz="1200"/>
            </a:br>
            <a:r>
              <a:rPr b="0" lang="en-US" sz="1200" spc="-1" strike="noStrike">
                <a:solidFill>
                  <a:srgbClr val="5a6a78"/>
                </a:solidFill>
                <a:latin typeface="Calibri"/>
                <a:ea typeface="DejaVu Sans"/>
              </a:rPr>
              <a:t>Автор 1</a:t>
            </a:r>
            <a:br>
              <a:rPr sz="1200"/>
            </a:br>
            <a:r>
              <a:rPr b="0" lang="en-US" sz="1200" spc="-1" strike="noStrike">
                <a:solidFill>
                  <a:srgbClr val="5a6a78"/>
                </a:solidFill>
                <a:latin typeface="Calibri"/>
                <a:ea typeface="DejaVu Sans"/>
              </a:rPr>
              <a:t>Автор 2</a:t>
            </a:r>
            <a:br>
              <a:rPr sz="1200"/>
            </a:br>
            <a:r>
              <a:rPr b="0" lang="en-US" sz="1200" spc="-1" strike="noStrike">
                <a:solidFill>
                  <a:srgbClr val="5a6a78"/>
                </a:solidFill>
                <a:latin typeface="Calibri"/>
                <a:ea typeface="DejaVu Sans"/>
              </a:rPr>
              <a:t>2026</a:t>
            </a:r>
            <a:endParaRPr b="0" lang="ru-RU" sz="1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6" name="TextBox 4"/>
          <p:cNvSpPr/>
          <p:nvPr/>
        </p:nvSpPr>
        <p:spPr>
          <a:xfrm>
            <a:off x="180000" y="1554480"/>
            <a:ext cx="5944320" cy="18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Excel → AlterOffice:</a:t>
            </a:r>
            <a:endParaRPr b="0" lang="ru-RU" sz="28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Миграция без </a:t>
            </a:r>
            <a:endParaRPr b="0" lang="ru-RU" sz="28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переписывания</a:t>
            </a:r>
            <a:endParaRPr b="0" lang="ru-RU" sz="28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всего VBA макро-кода</a:t>
            </a:r>
            <a:endParaRPr b="0" lang="ru-RU" sz="2800" spc="-1" strike="noStrike">
              <a:solidFill>
                <a:srgbClr val="000000"/>
              </a:solidFill>
              <a:latin typeface="PT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1"/>
          <p:cNvSpPr/>
          <p:nvPr/>
        </p:nvSpPr>
        <p:spPr>
          <a:xfrm>
            <a:off x="0" y="0"/>
            <a:ext cx="107640" cy="685584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548640" y="320040"/>
            <a:ext cx="63986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0b3d5c"/>
                </a:solidFill>
                <a:latin typeface="Calibri"/>
                <a:ea typeface="DejaVu Sans"/>
              </a:rPr>
              <a:t>Проблема</a:t>
            </a:r>
            <a:endParaRPr b="0" lang="ru-RU" sz="2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9" name="TextBox 3"/>
          <p:cNvSpPr/>
          <p:nvPr/>
        </p:nvSpPr>
        <p:spPr>
          <a:xfrm>
            <a:off x="548640" y="960120"/>
            <a:ext cx="106106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5a6a78"/>
                </a:solidFill>
                <a:latin typeface="Calibri"/>
                <a:ea typeface="DejaVu Sans"/>
              </a:rPr>
              <a:t>Развернуть и начать использовать AlterOffice — необходимость (установка выполнена)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5a6a78"/>
                </a:solidFill>
                <a:latin typeface="Calibri"/>
                <a:ea typeface="DejaVu Sans"/>
              </a:rPr>
              <a:t>Сохранить автоматизацию (миграция макросов VBA/Power Query) — отдельная задача (в процессе)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0" name="TextBox 4"/>
          <p:cNvSpPr/>
          <p:nvPr/>
        </p:nvSpPr>
        <p:spPr>
          <a:xfrm>
            <a:off x="540000" y="2160000"/>
            <a:ext cx="6398640" cy="29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Требование регулятора обеспечить суверенитет офисного ПО – необходимо работать в AlterOffice Acell вместо MS Excel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В MS Excel накоплен багаж кода автоматизации - макросы VBA и отчеты PowerQuery (сбор, чистка, оформление, аггрегация…)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При смене офисной платформы их нужно переписывать — отсутствие экспертизы в программировании на Python (в широком масштабе)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AlterOffice Acell не имеет встроенной альтернативы PowerQuery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Сотрудники имеют низкую экспертизу в программировании (в частности на Python) – сложно обучить сотрудников из другой области образования и мотивировать на саморазвитие.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1" name="TextBox 6"/>
          <p:cNvSpPr/>
          <p:nvPr/>
        </p:nvSpPr>
        <p:spPr>
          <a:xfrm>
            <a:off x="7498080" y="3108960"/>
            <a:ext cx="40212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5a6a78"/>
                </a:solidFill>
                <a:latin typeface="Calibri"/>
                <a:ea typeface="DejaVu Sans"/>
              </a:rPr>
              <a:t>assets/s02_vba_wall.png</a:t>
            </a:r>
            <a:endParaRPr b="0" lang="ru-RU" sz="1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2" name="TextBox 7"/>
          <p:cNvSpPr/>
          <p:nvPr/>
        </p:nvSpPr>
        <p:spPr>
          <a:xfrm>
            <a:off x="457200" y="6446520"/>
            <a:ext cx="82274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  <a:ea typeface="DejaVu Sans"/>
              </a:rPr>
              <a:t>Alter-macros · Предприятие</a:t>
            </a:r>
            <a:endParaRPr b="0" lang="ru-RU" sz="10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3" name="TextBox 8"/>
          <p:cNvSpPr/>
          <p:nvPr/>
        </p:nvSpPr>
        <p:spPr>
          <a:xfrm>
            <a:off x="10515600" y="6446520"/>
            <a:ext cx="1186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  <a:ea typeface="DejaVu Sans"/>
              </a:rPr>
              <a:t>2 / 5</a:t>
            </a:r>
            <a:endParaRPr b="0" lang="ru-RU" sz="1000" spc="-1" strike="noStrike">
              <a:solidFill>
                <a:srgbClr val="000000"/>
              </a:solidFill>
              <a:latin typeface="PT Sans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7020000" y="2161080"/>
            <a:ext cx="4820040" cy="3598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rcRect l="-218" t="12653" r="0" b="17079"/>
          <a:stretch/>
        </p:blipFill>
        <p:spPr>
          <a:xfrm>
            <a:off x="3060360" y="4752000"/>
            <a:ext cx="3959280" cy="1585440"/>
          </a:xfrm>
          <a:prstGeom prst="rect">
            <a:avLst/>
          </a:prstGeom>
          <a:ln w="0">
            <a:noFill/>
          </a:ln>
        </p:spPr>
      </p:pic>
      <p:sp>
        <p:nvSpPr>
          <p:cNvPr id="56" name="Rectangle 1"/>
          <p:cNvSpPr/>
          <p:nvPr/>
        </p:nvSpPr>
        <p:spPr>
          <a:xfrm>
            <a:off x="0" y="0"/>
            <a:ext cx="107640" cy="685584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" name="TextBox 2"/>
          <p:cNvSpPr/>
          <p:nvPr/>
        </p:nvSpPr>
        <p:spPr>
          <a:xfrm>
            <a:off x="548640" y="274320"/>
            <a:ext cx="109706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b3d5c"/>
                </a:solidFill>
                <a:latin typeface="Calibri"/>
                <a:ea typeface="DejaVu Sans"/>
              </a:rPr>
              <a:t>Killer feature: конвейер шагов вместо нескольких VBA макросов/Power Query</a:t>
            </a:r>
            <a:endParaRPr b="0" lang="ru-RU" sz="2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8" name="Rounded Rectangle 3"/>
          <p:cNvSpPr/>
          <p:nvPr/>
        </p:nvSpPr>
        <p:spPr>
          <a:xfrm>
            <a:off x="534960" y="936720"/>
            <a:ext cx="11062080" cy="140184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777240" y="1051560"/>
            <a:ext cx="1060488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Alter-macros закрывает типовой класс задач, ради которых писали VBA код и </a:t>
            </a:r>
            <a:br>
              <a:rPr sz="1400"/>
            </a:b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конструировали отчеты Power Query: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Noto Sans CJK SC"/>
              </a:rPr>
              <a:t>собрать книги → очистить → свести → агрегировать → оформить (разделить)</a:t>
            </a:r>
            <a:br>
              <a:rPr sz="1400"/>
            </a:b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Noto Sans CJK SC"/>
              </a:rPr>
              <a:t>Предлагается выполнять эти задачи с помошью декларативного конструирования шагов конвеера задаваемых на листе </a:t>
            </a:r>
            <a:br>
              <a:rPr sz="1400"/>
            </a:b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Noto Sans CJK SC"/>
              </a:rPr>
              <a:t>рабочей книги – лист параметров и графического визарда, без отдельного макроса на каждый кейс.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0" name="TextBox 5"/>
          <p:cNvSpPr/>
          <p:nvPr/>
        </p:nvSpPr>
        <p:spPr>
          <a:xfrm>
            <a:off x="620640" y="2592000"/>
            <a:ext cx="43099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b3d5c"/>
                </a:solidFill>
                <a:latin typeface="Calibri"/>
                <a:ea typeface="DejaVu Sans"/>
              </a:rPr>
              <a:t>Что закрывает решение (часть VBA макрокода)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1" name="TextBox 6"/>
          <p:cNvSpPr/>
          <p:nvPr/>
        </p:nvSpPr>
        <p:spPr>
          <a:xfrm>
            <a:off x="548640" y="2664360"/>
            <a:ext cx="5941440" cy="229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ru-RU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Сбор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 из папки / многих файлов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Очистка, дубликаты, замена, столбцы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ВПР умный, сводная таблица, оформление, формулы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Разделение данных по произвольным правилам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Повторяемые сценарий с помощью листа параметров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2" name="Rounded Rectangle 7"/>
          <p:cNvSpPr/>
          <p:nvPr/>
        </p:nvSpPr>
        <p:spPr>
          <a:xfrm>
            <a:off x="6766920" y="2520000"/>
            <a:ext cx="4751640" cy="269892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" name="TextBox 8"/>
          <p:cNvSpPr/>
          <p:nvPr/>
        </p:nvSpPr>
        <p:spPr>
          <a:xfrm>
            <a:off x="6995160" y="2514960"/>
            <a:ext cx="34434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Честно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4" name="TextBox 9"/>
          <p:cNvSpPr/>
          <p:nvPr/>
        </p:nvSpPr>
        <p:spPr>
          <a:xfrm>
            <a:off x="6995160" y="2880000"/>
            <a:ext cx="4163400" cy="14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•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Не закроет 100% всего VBA макрокода (~50-60%);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•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Некоторые кейсы обработки данных потребуют собственного кода Python (но встроенного в единый фреймфорк).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•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Ненулевой порог входа – потребуется обучение ключевых сотрудников на примерах  (далее они смогут распространять настройки конвеера и воспроизведение обработки необученными пользователями)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5" name="TextBox 12"/>
          <p:cNvSpPr/>
          <p:nvPr/>
        </p:nvSpPr>
        <p:spPr>
          <a:xfrm>
            <a:off x="457200" y="6446520"/>
            <a:ext cx="82274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  <a:ea typeface="DejaVu Sans"/>
              </a:rPr>
              <a:t>Alter-macros · Предприятие</a:t>
            </a:r>
            <a:endParaRPr b="0" lang="ru-RU" sz="10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6" name="TextBox 13"/>
          <p:cNvSpPr/>
          <p:nvPr/>
        </p:nvSpPr>
        <p:spPr>
          <a:xfrm>
            <a:off x="10515600" y="6446520"/>
            <a:ext cx="1186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  <a:ea typeface="DejaVu Sans"/>
              </a:rPr>
              <a:t>3 / 5</a:t>
            </a:r>
            <a:endParaRPr b="0" lang="ru-RU" sz="1000" spc="-1" strike="noStrike">
              <a:solidFill>
                <a:srgbClr val="000000"/>
              </a:solidFill>
              <a:latin typeface="PT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07640" cy="685584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548640" y="274320"/>
            <a:ext cx="109706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0b3d5c"/>
                </a:solidFill>
                <a:latin typeface="Calibri"/>
                <a:ea typeface="DejaVu Sans"/>
              </a:rPr>
              <a:t>Как выглядит работа с помощью alter-macros</a:t>
            </a:r>
            <a:endParaRPr b="0" lang="ru-RU" sz="2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548640" y="822960"/>
            <a:ext cx="639864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5a6a78"/>
                </a:solidFill>
                <a:latin typeface="Calibri"/>
                <a:ea typeface="DejaVu Sans"/>
              </a:rPr>
              <a:t>Один сохранённый сценарий на листе параметров —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5a6a78"/>
                </a:solidFill>
                <a:latin typeface="Calibri"/>
                <a:ea typeface="DejaVu Sans"/>
              </a:rPr>
              <a:t>Повторяемый отчёт без «ручного ACell»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0" name="Rounded Rectangle 4"/>
          <p:cNvSpPr/>
          <p:nvPr/>
        </p:nvSpPr>
        <p:spPr>
          <a:xfrm>
            <a:off x="548640" y="1600200"/>
            <a:ext cx="455040" cy="45504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548640" y="1645920"/>
            <a:ext cx="455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1188720" y="1673280"/>
            <a:ext cx="56671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Определить источники данных (xlsx/ods/xml/csv)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3" name="Rounded Rectangle 7"/>
          <p:cNvSpPr/>
          <p:nvPr/>
        </p:nvSpPr>
        <p:spPr>
          <a:xfrm>
            <a:off x="548640" y="2240280"/>
            <a:ext cx="455040" cy="45504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548640" y="2286000"/>
            <a:ext cx="455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1188720" y="2313360"/>
            <a:ext cx="56671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Открыть/задать книгу(и) параметров работы макроса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6" name="Rounded Rectangle 10"/>
          <p:cNvSpPr/>
          <p:nvPr/>
        </p:nvSpPr>
        <p:spPr>
          <a:xfrm>
            <a:off x="548640" y="2880360"/>
            <a:ext cx="455040" cy="45504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548640" y="2926080"/>
            <a:ext cx="455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1188720" y="2953440"/>
            <a:ext cx="56671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Запуск макроса по отдельному листу параметров или по группе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9" name="Rounded Rectangle 13"/>
          <p:cNvSpPr/>
          <p:nvPr/>
        </p:nvSpPr>
        <p:spPr>
          <a:xfrm>
            <a:off x="548640" y="3520440"/>
            <a:ext cx="455040" cy="45504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" name="TextBox 14"/>
          <p:cNvSpPr/>
          <p:nvPr/>
        </p:nvSpPr>
        <p:spPr>
          <a:xfrm>
            <a:off x="548640" y="3566160"/>
            <a:ext cx="455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1" name="TextBox 15"/>
          <p:cNvSpPr/>
          <p:nvPr/>
        </p:nvSpPr>
        <p:spPr>
          <a:xfrm>
            <a:off x="1188720" y="3593520"/>
            <a:ext cx="56671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Очистка и обогащение данных в конвеере постобработки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2" name="Rounded Rectangle 16"/>
          <p:cNvSpPr/>
          <p:nvPr/>
        </p:nvSpPr>
        <p:spPr>
          <a:xfrm>
            <a:off x="548640" y="4160520"/>
            <a:ext cx="455040" cy="45504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" name="TextBox 17"/>
          <p:cNvSpPr/>
          <p:nvPr/>
        </p:nvSpPr>
        <p:spPr>
          <a:xfrm>
            <a:off x="548640" y="4206240"/>
            <a:ext cx="455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5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4" name="TextBox 18"/>
          <p:cNvSpPr/>
          <p:nvPr/>
        </p:nvSpPr>
        <p:spPr>
          <a:xfrm>
            <a:off x="1188720" y="4233600"/>
            <a:ext cx="56671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Сводная таблица/ формулы / «умный» ВПР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5" name="Rounded Rectangle 19"/>
          <p:cNvSpPr/>
          <p:nvPr/>
        </p:nvSpPr>
        <p:spPr>
          <a:xfrm>
            <a:off x="540000" y="5400000"/>
            <a:ext cx="455040" cy="45504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" name="TextBox 20"/>
          <p:cNvSpPr/>
          <p:nvPr/>
        </p:nvSpPr>
        <p:spPr>
          <a:xfrm>
            <a:off x="540000" y="5445720"/>
            <a:ext cx="455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7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7" name="TextBox 21"/>
          <p:cNvSpPr/>
          <p:nvPr/>
        </p:nvSpPr>
        <p:spPr>
          <a:xfrm>
            <a:off x="1180080" y="5473080"/>
            <a:ext cx="56671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Что то идет не так – смотрим журнал логов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8" name="Rounded Rectangle 22"/>
          <p:cNvSpPr/>
          <p:nvPr/>
        </p:nvSpPr>
        <p:spPr>
          <a:xfrm>
            <a:off x="7132320" y="1600200"/>
            <a:ext cx="4478400" cy="32896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" name="TextBox 23"/>
          <p:cNvSpPr/>
          <p:nvPr/>
        </p:nvSpPr>
        <p:spPr>
          <a:xfrm>
            <a:off x="7360920" y="1783080"/>
            <a:ext cx="41126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1a9b8e"/>
                </a:solidFill>
                <a:latin typeface="Calibri"/>
                <a:ea typeface="DejaVu Sans"/>
              </a:rPr>
              <a:t>Выгоды внедрения alter-macros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90" name="TextBox 24"/>
          <p:cNvSpPr/>
          <p:nvPr/>
        </p:nvSpPr>
        <p:spPr>
          <a:xfrm>
            <a:off x="7360920" y="2286000"/>
            <a:ext cx="4112640" cy="12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Один фреймворк с возможностью расширения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Визард на русском — декларативная настройка без привлечения программиста 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Совместимость AlterOffice, упрощенный инсталлятор, интеграция в основное и контекстное меню ACell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rcRect l="0" t="26988" r="7" b="26538"/>
          <a:stretch/>
        </p:blipFill>
        <p:spPr>
          <a:xfrm>
            <a:off x="7020360" y="5040000"/>
            <a:ext cx="4858200" cy="1258200"/>
          </a:xfrm>
          <a:prstGeom prst="rect">
            <a:avLst/>
          </a:prstGeom>
          <a:ln w="0">
            <a:noFill/>
          </a:ln>
        </p:spPr>
      </p:pic>
      <p:sp>
        <p:nvSpPr>
          <p:cNvPr id="92" name="TextBox 26"/>
          <p:cNvSpPr/>
          <p:nvPr/>
        </p:nvSpPr>
        <p:spPr>
          <a:xfrm>
            <a:off x="7315200" y="5189400"/>
            <a:ext cx="41126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PT Sans"/>
              <a:ea typeface="DejaVu Sans"/>
            </a:endParaRPr>
          </a:p>
        </p:txBody>
      </p:sp>
      <p:sp>
        <p:nvSpPr>
          <p:cNvPr id="93" name="TextBox 27"/>
          <p:cNvSpPr/>
          <p:nvPr/>
        </p:nvSpPr>
        <p:spPr>
          <a:xfrm>
            <a:off x="457200" y="6446520"/>
            <a:ext cx="82274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  <a:ea typeface="DejaVu Sans"/>
              </a:rPr>
              <a:t>Alter-macros · Предприятие</a:t>
            </a:r>
            <a:endParaRPr b="0" lang="ru-RU" sz="10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94" name="TextBox 28"/>
          <p:cNvSpPr/>
          <p:nvPr/>
        </p:nvSpPr>
        <p:spPr>
          <a:xfrm>
            <a:off x="10515600" y="6446520"/>
            <a:ext cx="1186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  <a:ea typeface="DejaVu Sans"/>
              </a:rPr>
              <a:t>4 / 5</a:t>
            </a:r>
            <a:endParaRPr b="0" lang="ru-RU" sz="10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95" name="Rounded Rectangle 1"/>
          <p:cNvSpPr/>
          <p:nvPr/>
        </p:nvSpPr>
        <p:spPr>
          <a:xfrm>
            <a:off x="540000" y="4763520"/>
            <a:ext cx="455040" cy="45504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6" name="TextBox 1"/>
          <p:cNvSpPr/>
          <p:nvPr/>
        </p:nvSpPr>
        <p:spPr>
          <a:xfrm>
            <a:off x="540000" y="4809240"/>
            <a:ext cx="455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6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97" name="TextBox 16"/>
          <p:cNvSpPr/>
          <p:nvPr/>
        </p:nvSpPr>
        <p:spPr>
          <a:xfrm>
            <a:off x="1180080" y="4836600"/>
            <a:ext cx="56671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Можно разделить данные по произвольным правилам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07640" cy="685584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548640" y="320040"/>
            <a:ext cx="109706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0b3d5c"/>
                </a:solidFill>
                <a:latin typeface="Calibri"/>
                <a:ea typeface="DejaVu Sans"/>
              </a:rPr>
              <a:t>Решение</a:t>
            </a:r>
            <a:endParaRPr b="0" lang="ru-RU" sz="2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0" name="Rounded Rectangle 3"/>
          <p:cNvSpPr/>
          <p:nvPr/>
        </p:nvSpPr>
        <p:spPr>
          <a:xfrm>
            <a:off x="548640" y="1051560"/>
            <a:ext cx="11062080" cy="8208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1" name="Rounded Rectangle 4"/>
          <p:cNvSpPr/>
          <p:nvPr/>
        </p:nvSpPr>
        <p:spPr>
          <a:xfrm>
            <a:off x="777240" y="1188720"/>
            <a:ext cx="637920" cy="5464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777240" y="1280160"/>
            <a:ext cx="637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3" name="TextBox 6"/>
          <p:cNvSpPr/>
          <p:nvPr/>
        </p:nvSpPr>
        <p:spPr>
          <a:xfrm>
            <a:off x="1645920" y="1280160"/>
            <a:ext cx="9599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Стек: AlterOffice Acell + alter-macros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4" name="Rounded Rectangle 7"/>
          <p:cNvSpPr/>
          <p:nvPr/>
        </p:nvSpPr>
        <p:spPr>
          <a:xfrm>
            <a:off x="548640" y="2011680"/>
            <a:ext cx="11062080" cy="8208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5" name="Rounded Rectangle 8"/>
          <p:cNvSpPr/>
          <p:nvPr/>
        </p:nvSpPr>
        <p:spPr>
          <a:xfrm>
            <a:off x="777240" y="2148840"/>
            <a:ext cx="637920" cy="5464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6" name="TextBox 9"/>
          <p:cNvSpPr/>
          <p:nvPr/>
        </p:nvSpPr>
        <p:spPr>
          <a:xfrm>
            <a:off x="777240" y="2240280"/>
            <a:ext cx="637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1645920" y="2240280"/>
            <a:ext cx="9599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VBA/PowerQuery по типу «сбор/обработка/разделение» → пилот на Acell + alter-macros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8" name="Rounded Rectangle 11"/>
          <p:cNvSpPr/>
          <p:nvPr/>
        </p:nvSpPr>
        <p:spPr>
          <a:xfrm>
            <a:off x="548640" y="2971800"/>
            <a:ext cx="11062080" cy="8208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9" name="Rounded Rectangle 12"/>
          <p:cNvSpPr/>
          <p:nvPr/>
        </p:nvSpPr>
        <p:spPr>
          <a:xfrm>
            <a:off x="777240" y="3108960"/>
            <a:ext cx="637920" cy="5464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777240" y="3200400"/>
            <a:ext cx="637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1" name="TextBox 14"/>
          <p:cNvSpPr/>
          <p:nvPr/>
        </p:nvSpPr>
        <p:spPr>
          <a:xfrm>
            <a:off x="1645920" y="3200400"/>
            <a:ext cx="9599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Выявление необходимости расширения функционала и исправление багов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2" name="Rounded Rectangle 15"/>
          <p:cNvSpPr/>
          <p:nvPr/>
        </p:nvSpPr>
        <p:spPr>
          <a:xfrm>
            <a:off x="548640" y="3931920"/>
            <a:ext cx="11062080" cy="8208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" name="Rounded Rectangle 16"/>
          <p:cNvSpPr/>
          <p:nvPr/>
        </p:nvSpPr>
        <p:spPr>
          <a:xfrm>
            <a:off x="777240" y="4069080"/>
            <a:ext cx="637920" cy="5464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4" name="TextBox 17"/>
          <p:cNvSpPr/>
          <p:nvPr/>
        </p:nvSpPr>
        <p:spPr>
          <a:xfrm>
            <a:off x="777240" y="4160520"/>
            <a:ext cx="637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04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5" name="TextBox 18"/>
          <p:cNvSpPr/>
          <p:nvPr/>
        </p:nvSpPr>
        <p:spPr>
          <a:xfrm>
            <a:off x="1645920" y="4160520"/>
            <a:ext cx="9599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После пилотного тестирования: публикация на МСУЗ для широкого круга пользователей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6" name="TextBox 20"/>
          <p:cNvSpPr/>
          <p:nvPr/>
        </p:nvSpPr>
        <p:spPr>
          <a:xfrm>
            <a:off x="457200" y="6446520"/>
            <a:ext cx="82274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  <a:ea typeface="DejaVu Sans"/>
              </a:rPr>
              <a:t>Alter-macros · Предприятие</a:t>
            </a:r>
            <a:endParaRPr b="0" lang="ru-RU" sz="10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7" name="TextBox 21"/>
          <p:cNvSpPr/>
          <p:nvPr/>
        </p:nvSpPr>
        <p:spPr>
          <a:xfrm>
            <a:off x="10515600" y="6446520"/>
            <a:ext cx="1186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  <a:ea typeface="DejaVu Sans"/>
              </a:rPr>
              <a:t>5 / 5</a:t>
            </a:r>
            <a:endParaRPr b="0" lang="ru-RU" sz="1000" spc="-1" strike="noStrike">
              <a:solidFill>
                <a:srgbClr val="000000"/>
              </a:solidFill>
              <a:latin typeface="PT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Application>AlterOffice/2026.2.0.0$Linux_X86_64 LibreOffice_project/bc4ef1adf80b36c7a6365f8ed6cbf29021361edd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>su</cp:lastModifiedBy>
  <dcterms:modified xsi:type="dcterms:W3CDTF">2026-08-06T15:36:46Z</dcterms:modified>
  <cp:revision>17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