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3D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s01_tit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0" y="0"/>
            <a:ext cx="5973775" cy="685800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0" y="0"/>
            <a:ext cx="6583680" cy="6858000"/>
          </a:xfrm>
          <a:prstGeom prst="rect">
            <a:avLst/>
          </a:prstGeom>
          <a:solidFill>
            <a:srgbClr val="0B3D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554480"/>
            <a:ext cx="5486400" cy="18288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Excel → AlterOffice:
отчёты без переписывания
всего VBA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749039"/>
            <a:ext cx="5486400" cy="9144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600" b="0">
                <a:solidFill>
                  <a:srgbClr val="D6EEEA"/>
                </a:solidFill>
                <a:latin typeface="Calibri"/>
              </a:rPr>
              <a:t>libre-macros · импортозамещение · Calc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5852160"/>
            <a:ext cx="54864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0">
                <a:solidFill>
                  <a:srgbClr val="5A6A78"/>
                </a:solidFill>
                <a:latin typeface="Calibri"/>
              </a:rPr>
              <a:t>Кратко для руководства · Предприятие ·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1A9B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6400800" cy="5029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600" b="1">
                <a:solidFill>
                  <a:srgbClr val="0B3D5C"/>
                </a:solidFill>
                <a:latin typeface="Calibri"/>
              </a:rPr>
              <a:t>Две задачи сразу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60120"/>
            <a:ext cx="6400800" cy="8229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600" b="0">
                <a:solidFill>
                  <a:srgbClr val="5A6A78"/>
                </a:solidFill>
                <a:latin typeface="Calibri"/>
              </a:rPr>
              <a:t>Поставить AlterOffice — необходимо.
Сохранить автоматизацию отчётов — отдельная задача.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011680"/>
            <a:ext cx="64008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600" b="0">
                <a:solidFill>
                  <a:srgbClr val="1A1A1A"/>
                </a:solidFill>
                <a:latin typeface="Calibri"/>
              </a:rPr>
              <a:t>• Лицензии и суверенитет офисного ПО</a:t>
            </a:r>
          </a:p>
          <a:p>
            <a:pPr algn="l">
              <a:spcAft>
                <a:spcPts val="800"/>
              </a:spcAft>
            </a:pPr>
            <a:r>
              <a:rPr sz="1600" b="0">
                <a:solidFill>
                  <a:srgbClr val="1A1A1A"/>
                </a:solidFill>
                <a:latin typeface="Calibri"/>
              </a:rPr>
              <a:t>• В Excel накоплен парк макросов VBA (сбор, чистка, сводные…)</a:t>
            </a:r>
          </a:p>
          <a:p>
            <a:pPr algn="l">
              <a:spcAft>
                <a:spcPts val="800"/>
              </a:spcAft>
            </a:pPr>
            <a:r>
              <a:rPr sz="1600" b="0">
                <a:solidFill>
                  <a:srgbClr val="1A1A1A"/>
                </a:solidFill>
                <a:latin typeface="Calibri"/>
              </a:rPr>
              <a:t>• При смене платформы их нужно переписывать — дорого и рискованно</a:t>
            </a:r>
          </a:p>
          <a:p>
            <a:pPr algn="l">
              <a:spcAft>
                <a:spcPts val="800"/>
              </a:spcAft>
            </a:pPr>
            <a:r>
              <a:rPr sz="1600" b="0">
                <a:solidFill>
                  <a:srgbClr val="1A1A1A"/>
                </a:solidFill>
                <a:latin typeface="Calibri"/>
              </a:rPr>
              <a:t>• «Голый» Calc этот слой сам по себе не заменяет</a:t>
            </a:r>
          </a:p>
        </p:txBody>
      </p:sp>
      <p:pic>
        <p:nvPicPr>
          <p:cNvPr id="6" name="Picture 5" descr="s02_vba_wal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0" y="1097280"/>
            <a:ext cx="4389120" cy="475488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6446520"/>
            <a:ext cx="82296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0">
                <a:solidFill>
                  <a:srgbClr val="5A6A78"/>
                </a:solidFill>
                <a:latin typeface="Calibri"/>
              </a:rPr>
              <a:t>libre-macros · Предприятие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446520"/>
            <a:ext cx="1188720" cy="320040"/>
          </a:xfrm>
          <a:prstGeom prst="rect">
            <a:avLst/>
          </a:prstGeom>
          <a:noFill/>
        </p:spPr>
        <p:txBody>
          <a:bodyPr wrap="square"/>
          <a:lstStyle/>
          <a:p>
            <a:pPr algn="r"/>
            <a:r>
              <a:rPr sz="1000" b="0">
                <a:solidFill>
                  <a:srgbClr val="5A6A78"/>
                </a:solidFill>
                <a:latin typeface="Calibri"/>
              </a:rPr>
              <a:t>2 / 5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1A9B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0972800" cy="5029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400" b="1">
                <a:solidFill>
                  <a:srgbClr val="0B3D5C"/>
                </a:solidFill>
                <a:latin typeface="Calibri"/>
              </a:rPr>
              <a:t>Killer feature: конвейер вместо точечного VBA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914400"/>
            <a:ext cx="11064240" cy="1325880"/>
          </a:xfrm>
          <a:prstGeom prst="roundRect">
            <a:avLst/>
          </a:prstGeom>
          <a:solidFill>
            <a:srgbClr val="F4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051560"/>
            <a:ext cx="10607040" cy="10972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500" b="1">
                <a:solidFill>
                  <a:srgbClr val="0B3D5C"/>
                </a:solidFill>
                <a:latin typeface="Calibri"/>
              </a:rPr>
              <a:t>libre-macros закрывает типовой класс задач, ради которых писали VBA:
собрать книги → очистить → свести → оформить — параметрами и визардом,
без отдельного макроса на каждый отчёт.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468880"/>
            <a:ext cx="59436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400" b="1">
                <a:solidFill>
                  <a:srgbClr val="1A9B8E"/>
                </a:solidFill>
                <a:latin typeface="Calibri"/>
              </a:rPr>
              <a:t>Что закрывает (часть парка VBA)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880360"/>
            <a:ext cx="594360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500" b="0">
                <a:solidFill>
                  <a:srgbClr val="1A1A1A"/>
                </a:solidFill>
                <a:latin typeface="Calibri"/>
              </a:rPr>
              <a:t>• Сбор из папки / многих файлов</a:t>
            </a:r>
          </a:p>
          <a:p>
            <a:pPr algn="l">
              <a:spcAft>
                <a:spcPts val="800"/>
              </a:spcAft>
            </a:pPr>
            <a:r>
              <a:rPr sz="1500" b="0">
                <a:solidFill>
                  <a:srgbClr val="1A1A1A"/>
                </a:solidFill>
                <a:latin typeface="Calibri"/>
              </a:rPr>
              <a:t>• Очистка, дубликаты, замена, столбцы</a:t>
            </a:r>
          </a:p>
          <a:p>
            <a:pPr algn="l">
              <a:spcAft>
                <a:spcPts val="800"/>
              </a:spcAft>
            </a:pPr>
            <a:r>
              <a:rPr sz="1500" b="0">
                <a:solidFill>
                  <a:srgbClr val="1A1A1A"/>
                </a:solidFill>
                <a:latin typeface="Calibri"/>
              </a:rPr>
              <a:t>• ВПР / lookup, сводная, оформление, автофильтр</a:t>
            </a:r>
          </a:p>
          <a:p>
            <a:pPr algn="l">
              <a:spcAft>
                <a:spcPts val="800"/>
              </a:spcAft>
            </a:pPr>
            <a:r>
              <a:rPr sz="1500" b="0">
                <a:solidFill>
                  <a:srgbClr val="1A1A1A"/>
                </a:solidFill>
                <a:latin typeface="Calibri"/>
              </a:rPr>
              <a:t>• Повторяемый сценарий на листе параметров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766560" y="2468880"/>
            <a:ext cx="4846320" cy="3017520"/>
          </a:xfrm>
          <a:prstGeom prst="roundRect">
            <a:avLst/>
          </a:prstGeom>
          <a:solidFill>
            <a:srgbClr val="D6EE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995160" y="2651760"/>
            <a:ext cx="448056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400" b="1">
                <a:solidFill>
                  <a:srgbClr val="C04A3A"/>
                </a:solidFill>
                <a:latin typeface="Calibri"/>
              </a:rPr>
              <a:t>Честно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995160" y="3108960"/>
            <a:ext cx="4480560" cy="21031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400" b="0">
                <a:solidFill>
                  <a:srgbClr val="1A1A1A"/>
                </a:solidFill>
                <a:latin typeface="Calibri"/>
              </a:rPr>
              <a:t>Не 100% всех VBA.
Кастомную логику — пилотом
или своими шагами Python.
Массовый «сбор → свести →
оформить» не пишем с нуля.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5212080"/>
            <a:ext cx="11064240" cy="914400"/>
          </a:xfrm>
          <a:prstGeom prst="roundRect">
            <a:avLst/>
          </a:prstGeom>
          <a:solidFill>
            <a:srgbClr val="D6EE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5303520"/>
            <a:ext cx="10698480" cy="82296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200" b="0">
                <a:solidFill>
                  <a:srgbClr val="5A6A78"/>
                </a:solidFill>
                <a:latin typeface="Calibri"/>
              </a:rPr>
              <a:t>assets/s03_pipeline.png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6446520"/>
            <a:ext cx="82296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0">
                <a:solidFill>
                  <a:srgbClr val="5A6A78"/>
                </a:solidFill>
                <a:latin typeface="Calibri"/>
              </a:rPr>
              <a:t>libre-macros · Предприятие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515600" y="6446520"/>
            <a:ext cx="1188720" cy="320040"/>
          </a:xfrm>
          <a:prstGeom prst="rect">
            <a:avLst/>
          </a:prstGeom>
          <a:noFill/>
        </p:spPr>
        <p:txBody>
          <a:bodyPr wrap="square"/>
          <a:lstStyle/>
          <a:p>
            <a:pPr algn="r"/>
            <a:r>
              <a:rPr sz="1000" b="0">
                <a:solidFill>
                  <a:srgbClr val="5A6A78"/>
                </a:solidFill>
                <a:latin typeface="Calibri"/>
              </a:rPr>
              <a:t>3 / 5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1A9B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09728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600" b="1">
                <a:solidFill>
                  <a:srgbClr val="0B3D5C"/>
                </a:solidFill>
                <a:latin typeface="Calibri"/>
              </a:rPr>
              <a:t>Как выглядит работа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22960"/>
            <a:ext cx="6400800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500" b="0">
                <a:solidFill>
                  <a:srgbClr val="5A6A78"/>
                </a:solidFill>
                <a:latin typeface="Calibri"/>
              </a:rPr>
              <a:t>Один сохранённый сценарий на листе параметров —
повторяемый отчёт без «ручного Excel».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600200"/>
            <a:ext cx="457200" cy="457200"/>
          </a:xfrm>
          <a:prstGeom prst="roundRect">
            <a:avLst/>
          </a:prstGeom>
          <a:solidFill>
            <a:srgbClr val="1A9B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645920"/>
            <a:ext cx="4572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88720" y="1673352"/>
            <a:ext cx="566928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500" b="0">
                <a:solidFill>
                  <a:srgbClr val="1A1A1A"/>
                </a:solidFill>
                <a:latin typeface="Calibri"/>
              </a:rPr>
              <a:t>Книги подразделений в папке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240280"/>
            <a:ext cx="457200" cy="457200"/>
          </a:xfrm>
          <a:prstGeom prst="roundRect">
            <a:avLst/>
          </a:prstGeom>
          <a:solidFill>
            <a:srgbClr val="1A9B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2286000"/>
            <a:ext cx="4572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88720" y="2313432"/>
            <a:ext cx="566928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500" b="0">
                <a:solidFill>
                  <a:srgbClr val="1A1A1A"/>
                </a:solidFill>
                <a:latin typeface="Calibri"/>
              </a:rPr>
              <a:t>Открыть книгу параметров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2880360"/>
            <a:ext cx="457200" cy="457200"/>
          </a:xfrm>
          <a:prstGeom prst="roundRect">
            <a:avLst/>
          </a:prstGeom>
          <a:solidFill>
            <a:srgbClr val="1A9B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" y="2926080"/>
            <a:ext cx="4572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88720" y="2953512"/>
            <a:ext cx="566928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500" b="0">
                <a:solidFill>
                  <a:srgbClr val="1A1A1A"/>
                </a:solidFill>
                <a:latin typeface="Calibri"/>
              </a:rPr>
              <a:t>Запуск сбора / pack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3520440"/>
            <a:ext cx="457200" cy="457200"/>
          </a:xfrm>
          <a:prstGeom prst="roundRect">
            <a:avLst/>
          </a:prstGeom>
          <a:solidFill>
            <a:srgbClr val="1A9B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48640" y="3566160"/>
            <a:ext cx="4572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88720" y="3593592"/>
            <a:ext cx="566928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500" b="0">
                <a:solidFill>
                  <a:srgbClr val="1A1A1A"/>
                </a:solidFill>
                <a:latin typeface="Calibri"/>
              </a:rPr>
              <a:t>Очистка и обогащение в pipeline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48640" y="4160520"/>
            <a:ext cx="457200" cy="457200"/>
          </a:xfrm>
          <a:prstGeom prst="roundRect">
            <a:avLst/>
          </a:prstGeom>
          <a:solidFill>
            <a:srgbClr val="1A9B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48640" y="4206240"/>
            <a:ext cx="4572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88720" y="4233672"/>
            <a:ext cx="566928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500" b="0">
                <a:solidFill>
                  <a:srgbClr val="1A1A1A"/>
                </a:solidFill>
                <a:latin typeface="Calibri"/>
              </a:rPr>
              <a:t>Сводная / автофильтр / оформление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48640" y="4800600"/>
            <a:ext cx="457200" cy="457200"/>
          </a:xfrm>
          <a:prstGeom prst="roundRect">
            <a:avLst/>
          </a:prstGeom>
          <a:solidFill>
            <a:srgbClr val="1A9B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48640" y="4846320"/>
            <a:ext cx="4572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6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88720" y="4873752"/>
            <a:ext cx="566928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500" b="0">
                <a:solidFill>
                  <a:srgbClr val="1A1A1A"/>
                </a:solidFill>
                <a:latin typeface="Calibri"/>
              </a:rPr>
              <a:t>Журнал прогона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132320" y="1600200"/>
            <a:ext cx="4480560" cy="3291840"/>
          </a:xfrm>
          <a:prstGeom prst="roundRect">
            <a:avLst/>
          </a:prstGeom>
          <a:solidFill>
            <a:srgbClr val="F4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360920" y="1783080"/>
            <a:ext cx="41148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400" b="1">
                <a:solidFill>
                  <a:srgbClr val="1A9B8E"/>
                </a:solidFill>
                <a:latin typeface="Calibri"/>
              </a:rPr>
              <a:t>Выгоды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360920" y="2286000"/>
            <a:ext cx="411480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300" b="0">
                <a:solidFill>
                  <a:srgbClr val="1A1A1A"/>
                </a:solidFill>
                <a:latin typeface="Calibri"/>
              </a:rPr>
              <a:t>• Сценарий версионируется вместе с книгой</a:t>
            </a:r>
          </a:p>
          <a:p>
            <a:pPr algn="l">
              <a:spcAft>
                <a:spcPts val="800"/>
              </a:spcAft>
            </a:pPr>
            <a:r>
              <a:rPr sz="1300" b="0">
                <a:solidFill>
                  <a:srgbClr val="1A1A1A"/>
                </a:solidFill>
                <a:latin typeface="Calibri"/>
              </a:rPr>
              <a:t>• Визард на русском — без программиста на каждый отчёт</a:t>
            </a:r>
          </a:p>
          <a:p>
            <a:pPr algn="l">
              <a:spcAft>
                <a:spcPts val="800"/>
              </a:spcAft>
            </a:pPr>
            <a:r>
              <a:rPr sz="1300" b="0">
                <a:solidFill>
                  <a:srgbClr val="1A1A1A"/>
                </a:solidFill>
                <a:latin typeface="Calibri"/>
              </a:rPr>
              <a:t>• Совместимость AlterOffice 2026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132320" y="5029200"/>
            <a:ext cx="4480560" cy="1051560"/>
          </a:xfrm>
          <a:prstGeom prst="roundRect">
            <a:avLst/>
          </a:prstGeom>
          <a:solidFill>
            <a:srgbClr val="D6EE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315200" y="5189220"/>
            <a:ext cx="4114800" cy="82296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200" b="0">
                <a:solidFill>
                  <a:srgbClr val="5A6A78"/>
                </a:solidFill>
                <a:latin typeface="Calibri"/>
              </a:rPr>
              <a:t>assets/s04_practice.png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" y="6446520"/>
            <a:ext cx="82296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0">
                <a:solidFill>
                  <a:srgbClr val="5A6A78"/>
                </a:solidFill>
                <a:latin typeface="Calibri"/>
              </a:rPr>
              <a:t>libre-macros · Предприятие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515600" y="6446520"/>
            <a:ext cx="1188720" cy="320040"/>
          </a:xfrm>
          <a:prstGeom prst="rect">
            <a:avLst/>
          </a:prstGeom>
          <a:noFill/>
        </p:spPr>
        <p:txBody>
          <a:bodyPr wrap="square"/>
          <a:lstStyle/>
          <a:p>
            <a:pPr algn="r"/>
            <a:r>
              <a:rPr sz="1000" b="0">
                <a:solidFill>
                  <a:srgbClr val="5A6A78"/>
                </a:solidFill>
                <a:latin typeface="Calibri"/>
              </a:rPr>
              <a:t>4 / 5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1A9B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0972800" cy="5029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600" b="1">
                <a:solidFill>
                  <a:srgbClr val="0B3D5C"/>
                </a:solidFill>
                <a:latin typeface="Calibri"/>
              </a:rPr>
              <a:t>Что предлагаем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051560"/>
            <a:ext cx="11064240" cy="822960"/>
          </a:xfrm>
          <a:prstGeom prst="roundRect">
            <a:avLst/>
          </a:prstGeom>
          <a:solidFill>
            <a:srgbClr val="F4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77240" y="1188720"/>
            <a:ext cx="640080" cy="548640"/>
          </a:xfrm>
          <a:prstGeom prst="roundRect">
            <a:avLst/>
          </a:prstGeom>
          <a:solidFill>
            <a:srgbClr val="1A9B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280160"/>
            <a:ext cx="640080" cy="41148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45920" y="1280160"/>
            <a:ext cx="96012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600" b="0">
                <a:solidFill>
                  <a:srgbClr val="1A1A1A"/>
                </a:solidFill>
                <a:latin typeface="Calibri"/>
              </a:rPr>
              <a:t>Стек: AlterOffice + libre-macros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011680"/>
            <a:ext cx="11064240" cy="822960"/>
          </a:xfrm>
          <a:prstGeom prst="roundRect">
            <a:avLst/>
          </a:prstGeom>
          <a:solidFill>
            <a:srgbClr val="F4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777240" y="2148840"/>
            <a:ext cx="640080" cy="548640"/>
          </a:xfrm>
          <a:prstGeom prst="roundRect">
            <a:avLst/>
          </a:prstGeom>
          <a:solidFill>
            <a:srgbClr val="1A9B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2240280"/>
            <a:ext cx="640080" cy="41148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45920" y="2240280"/>
            <a:ext cx="96012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600" b="0">
                <a:solidFill>
                  <a:srgbClr val="1A1A1A"/>
                </a:solidFill>
                <a:latin typeface="Calibri"/>
              </a:rPr>
              <a:t>Инвентаризация VBA: отчёты «сбор/очистка/свод» → пилот на libre-macros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2971800"/>
            <a:ext cx="11064240" cy="822960"/>
          </a:xfrm>
          <a:prstGeom prst="roundRect">
            <a:avLst/>
          </a:prstGeom>
          <a:solidFill>
            <a:srgbClr val="F4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777240" y="3108960"/>
            <a:ext cx="640080" cy="548640"/>
          </a:xfrm>
          <a:prstGeom prst="roundRect">
            <a:avLst/>
          </a:prstGeom>
          <a:solidFill>
            <a:srgbClr val="1A9B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7240" y="3200400"/>
            <a:ext cx="640080" cy="41148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03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645920" y="3200400"/>
            <a:ext cx="96012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600" b="0">
                <a:solidFill>
                  <a:srgbClr val="1A1A1A"/>
                </a:solidFill>
                <a:latin typeface="Calibri"/>
              </a:rPr>
              <a:t>Остальное — roadmap / точечная разработка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8640" y="3931920"/>
            <a:ext cx="11064240" cy="822960"/>
          </a:xfrm>
          <a:prstGeom prst="roundRect">
            <a:avLst/>
          </a:prstGeom>
          <a:solidFill>
            <a:srgbClr val="F4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777240" y="4069080"/>
            <a:ext cx="640080" cy="548640"/>
          </a:xfrm>
          <a:prstGeom prst="roundRect">
            <a:avLst/>
          </a:prstGeom>
          <a:solidFill>
            <a:srgbClr val="1A9B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77240" y="4160520"/>
            <a:ext cx="640080" cy="41148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04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645920" y="4160520"/>
            <a:ext cx="96012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600" b="0">
                <a:solidFill>
                  <a:srgbClr val="1A1A1A"/>
                </a:solidFill>
                <a:latin typeface="Calibri"/>
              </a:rPr>
              <a:t>Решение: пилот 1–2 отчёта, владелец книги параметров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5120640"/>
            <a:ext cx="10972800" cy="73152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400" b="0">
                <a:solidFill>
                  <a:srgbClr val="5A6A78"/>
                </a:solidFill>
                <a:latin typeface="Calibri"/>
              </a:rPr>
              <a:t>Вопросы · демо · docs/
Предприятие · 2026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6446520"/>
            <a:ext cx="82296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0">
                <a:solidFill>
                  <a:srgbClr val="5A6A78"/>
                </a:solidFill>
                <a:latin typeface="Calibri"/>
              </a:rPr>
              <a:t>libre-macros · Предприятие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515600" y="6446520"/>
            <a:ext cx="1188720" cy="320040"/>
          </a:xfrm>
          <a:prstGeom prst="rect">
            <a:avLst/>
          </a:prstGeom>
          <a:noFill/>
        </p:spPr>
        <p:txBody>
          <a:bodyPr wrap="square"/>
          <a:lstStyle/>
          <a:p>
            <a:pPr algn="r"/>
            <a:r>
              <a:rPr sz="1000" b="0">
                <a:solidFill>
                  <a:srgbClr val="5A6A78"/>
                </a:solidFill>
                <a:latin typeface="Calibri"/>
              </a:rPr>
              <a:t>5 / 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