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723D1D-5E08-4ADC-88E6-F14D4FE19D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5B01DE-A123-453E-84D0-5B6C2F25452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A53084B-2AB7-411F-93F5-96241330E16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4BC8C2C-D7A6-49CB-BEEC-871FA19D630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D40340C-5392-4D12-961C-1443D454335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A28654E6-B869-482D-BA91-681E1D8FB4D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372D428-67F4-4E88-BE25-F21AD30421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215811B7-5E92-4D61-90FF-2195BD84AD7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BC53A1D0-EA95-42D6-AC28-DFCB9AC685F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3E0BD26D-ACA7-4996-AEFF-9BE03155CF3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FBC7E0D6-2D9B-41BE-BFB9-564B54AC4DE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AD1774-F7DD-4D31-815D-614EB7D52D4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773B96D-B016-4323-A90F-2713A196E56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0279056-95BF-4B1E-B730-1F6CF8EEE70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86C7976-57B1-411A-962E-D0F27D2F8E5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3C24651-FD9A-4725-9893-99B32666745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40B1F6D-CAA4-4AA5-80BA-8DBE5276997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714B7E1-066A-4CFC-B998-E550B4AD498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DE23ED-2D81-46C8-AFFA-6784E140A18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0946F13-9842-4B89-BB14-86DD7CDB972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A578F01-BA8F-4C8A-96C9-BC6B7E0C4AB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1BF32A8-201E-48BB-B82C-638247892A1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3d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Rounded Rectangle 2"/>
          <p:cNvSpPr/>
          <p:nvPr/>
        </p:nvSpPr>
        <p:spPr>
          <a:xfrm>
            <a:off x="6708600" y="360000"/>
            <a:ext cx="5351400" cy="5940000"/>
          </a:xfrm>
          <a:prstGeom prst="roundRect">
            <a:avLst>
              <a:gd name="adj" fmla="val 16667"/>
            </a:avLst>
          </a:prstGeom>
          <a:solidFill>
            <a:srgbClr val="d6ee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7560000" y="3063240"/>
            <a:ext cx="3600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5a6a78"/>
                </a:solidFill>
                <a:latin typeface="Calibri"/>
              </a:rPr>
              <a:t>assets/01_title_hero.png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a6a78"/>
                </a:solidFill>
                <a:latin typeface="Calibri"/>
              </a:rPr>
              <a:t>(промпт в STORYBOARD)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Rectangle 4"/>
          <p:cNvSpPr/>
          <p:nvPr/>
        </p:nvSpPr>
        <p:spPr>
          <a:xfrm>
            <a:off x="0" y="0"/>
            <a:ext cx="6583320" cy="6857640"/>
          </a:xfrm>
          <a:prstGeom prst="rect">
            <a:avLst/>
          </a:prstGeom>
          <a:solidFill>
            <a:srgbClr val="0b3d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640080" y="1645920"/>
            <a:ext cx="54860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От Excel к AlterOffice: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автоматизация отчётов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без потери процессов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640080" y="3657600"/>
            <a:ext cx="5486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600" spc="-1" strike="noStrike">
                <a:solidFill>
                  <a:srgbClr val="d6eeea"/>
                </a:solidFill>
                <a:latin typeface="Calibri"/>
              </a:rPr>
              <a:t>Пакет макросов libre-macros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6eeea"/>
                </a:solidFill>
                <a:latin typeface="Calibri"/>
              </a:rPr>
              <a:t>импортозамещение · Acell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640080" y="585216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a6a78"/>
                </a:solidFill>
                <a:latin typeface="Calibri"/>
              </a:rPr>
              <a:t>Для руководства · ООО ВсеяРусиНефть Деньги · 2026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54864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0b3d5c"/>
                </a:solidFill>
                <a:latin typeface="Calibri"/>
              </a:rPr>
              <a:t>О чём поговорим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Rounded Rectangle 3"/>
          <p:cNvSpPr/>
          <p:nvPr/>
        </p:nvSpPr>
        <p:spPr>
          <a:xfrm>
            <a:off x="548640" y="1097280"/>
            <a:ext cx="639720" cy="639720"/>
          </a:xfrm>
          <a:prstGeom prst="roundRect">
            <a:avLst>
              <a:gd name="adj" fmla="val 16667"/>
            </a:avLst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TextBox 4"/>
          <p:cNvSpPr/>
          <p:nvPr/>
        </p:nvSpPr>
        <p:spPr>
          <a:xfrm>
            <a:off x="548640" y="1207080"/>
            <a:ext cx="63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5"/>
          <p:cNvSpPr/>
          <p:nvPr/>
        </p:nvSpPr>
        <p:spPr>
          <a:xfrm>
            <a:off x="1417320" y="123444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1a1a1a"/>
                </a:solidFill>
                <a:latin typeface="Calibri"/>
              </a:rPr>
              <a:t>Зачем уходить с Excel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Rounded Rectangle 6"/>
          <p:cNvSpPr/>
          <p:nvPr/>
        </p:nvSpPr>
        <p:spPr>
          <a:xfrm>
            <a:off x="548640" y="1874520"/>
            <a:ext cx="639720" cy="639720"/>
          </a:xfrm>
          <a:prstGeom prst="roundRect">
            <a:avLst>
              <a:gd name="adj" fmla="val 16667"/>
            </a:avLst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TextBox 7"/>
          <p:cNvSpPr/>
          <p:nvPr/>
        </p:nvSpPr>
        <p:spPr>
          <a:xfrm>
            <a:off x="548640" y="1984320"/>
            <a:ext cx="63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8"/>
          <p:cNvSpPr/>
          <p:nvPr/>
        </p:nvSpPr>
        <p:spPr>
          <a:xfrm>
            <a:off x="1417320" y="201168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1a1a1a"/>
                </a:solidFill>
                <a:latin typeface="Calibri"/>
              </a:rPr>
              <a:t>Что остаётся болевой точкой после установки AlterOffice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Rounded Rectangle 9"/>
          <p:cNvSpPr/>
          <p:nvPr/>
        </p:nvSpPr>
        <p:spPr>
          <a:xfrm>
            <a:off x="548640" y="2651760"/>
            <a:ext cx="639720" cy="639720"/>
          </a:xfrm>
          <a:prstGeom prst="roundRect">
            <a:avLst>
              <a:gd name="adj" fmla="val 16667"/>
            </a:avLst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548640" y="2761560"/>
            <a:ext cx="63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11"/>
          <p:cNvSpPr/>
          <p:nvPr/>
        </p:nvSpPr>
        <p:spPr>
          <a:xfrm>
            <a:off x="1417320" y="27889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1a1a1a"/>
                </a:solidFill>
                <a:latin typeface="Calibri"/>
              </a:rPr>
              <a:t>Решение: AlterOffice + libre-macros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Rounded Rectangle 12"/>
          <p:cNvSpPr/>
          <p:nvPr/>
        </p:nvSpPr>
        <p:spPr>
          <a:xfrm>
            <a:off x="548640" y="3429000"/>
            <a:ext cx="639720" cy="639720"/>
          </a:xfrm>
          <a:prstGeom prst="roundRect">
            <a:avLst>
              <a:gd name="adj" fmla="val 16667"/>
            </a:avLst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TextBox 13"/>
          <p:cNvSpPr/>
          <p:nvPr/>
        </p:nvSpPr>
        <p:spPr>
          <a:xfrm>
            <a:off x="548640" y="3538800"/>
            <a:ext cx="63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04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14"/>
          <p:cNvSpPr/>
          <p:nvPr/>
        </p:nvSpPr>
        <p:spPr>
          <a:xfrm>
            <a:off x="1417320" y="356616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1a1a1a"/>
                </a:solidFill>
                <a:latin typeface="Calibri"/>
              </a:rPr>
              <a:t>Возможности и типовые сценарии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Rounded Rectangle 15"/>
          <p:cNvSpPr/>
          <p:nvPr/>
        </p:nvSpPr>
        <p:spPr>
          <a:xfrm>
            <a:off x="548640" y="4206240"/>
            <a:ext cx="639720" cy="639720"/>
          </a:xfrm>
          <a:prstGeom prst="roundRect">
            <a:avLst>
              <a:gd name="adj" fmla="val 16667"/>
            </a:avLst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TextBox 16"/>
          <p:cNvSpPr/>
          <p:nvPr/>
        </p:nvSpPr>
        <p:spPr>
          <a:xfrm>
            <a:off x="548640" y="4316040"/>
            <a:ext cx="63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05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17"/>
          <p:cNvSpPr/>
          <p:nvPr/>
        </p:nvSpPr>
        <p:spPr>
          <a:xfrm>
            <a:off x="1417320" y="434340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1a1a1a"/>
                </a:solidFill>
                <a:latin typeface="Calibri"/>
              </a:rPr>
              <a:t>Внедрение, риски, пилот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ounded Rectangle 18"/>
          <p:cNvSpPr/>
          <p:nvPr/>
        </p:nvSpPr>
        <p:spPr>
          <a:xfrm>
            <a:off x="548640" y="4983480"/>
            <a:ext cx="639720" cy="639720"/>
          </a:xfrm>
          <a:prstGeom prst="roundRect">
            <a:avLst>
              <a:gd name="adj" fmla="val 16667"/>
            </a:avLst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TextBox 19"/>
          <p:cNvSpPr/>
          <p:nvPr/>
        </p:nvSpPr>
        <p:spPr>
          <a:xfrm>
            <a:off x="548640" y="5093280"/>
            <a:ext cx="63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06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20"/>
          <p:cNvSpPr/>
          <p:nvPr/>
        </p:nvSpPr>
        <p:spPr>
          <a:xfrm>
            <a:off x="1417320" y="512064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1a1a1a"/>
                </a:solidFill>
                <a:latin typeface="Calibri"/>
              </a:rPr>
              <a:t>Решение к принятию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21"/>
          <p:cNvSpPr/>
          <p:nvPr/>
        </p:nvSpPr>
        <p:spPr>
          <a:xfrm>
            <a:off x="457200" y="64465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6a78"/>
                </a:solidFill>
                <a:latin typeface="Calibri"/>
              </a:rPr>
              <a:t>libre-macros · ООО ВсеяРусиНефть Деньги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22"/>
          <p:cNvSpPr/>
          <p:nvPr/>
        </p:nvSpPr>
        <p:spPr>
          <a:xfrm>
            <a:off x="10515600" y="644652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6a78"/>
                </a:solidFill>
                <a:latin typeface="Calibri"/>
              </a:rPr>
              <a:t>2 / 14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TextBox 2"/>
          <p:cNvSpPr/>
          <p:nvPr/>
        </p:nvSpPr>
        <p:spPr>
          <a:xfrm>
            <a:off x="548640" y="320040"/>
            <a:ext cx="6400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b3d5c"/>
                </a:solidFill>
                <a:latin typeface="Calibri"/>
              </a:rPr>
              <a:t>Импортозамещение офисного контура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3"/>
          <p:cNvSpPr/>
          <p:nvPr/>
        </p:nvSpPr>
        <p:spPr>
          <a:xfrm>
            <a:off x="548640" y="1260000"/>
            <a:ext cx="6400440" cy="65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5a6a78"/>
                </a:solidFill>
                <a:latin typeface="Calibri"/>
              </a:rPr>
              <a:t>Переход на AlterOffice закрывает лицензии и суверенитет ПО, но не закрывает в полном объеме привычные </a:t>
            </a:r>
            <a:br>
              <a:rPr sz="1600"/>
            </a:br>
            <a:r>
              <a:rPr b="0" lang="en-US" sz="1600" spc="-1" strike="noStrike">
                <a:solidFill>
                  <a:srgbClr val="5a6a78"/>
                </a:solidFill>
                <a:latin typeface="Calibri"/>
              </a:rPr>
              <a:t>Excel-процессы сам по себе.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4"/>
          <p:cNvSpPr/>
          <p:nvPr/>
        </p:nvSpPr>
        <p:spPr>
          <a:xfrm>
            <a:off x="548640" y="2569320"/>
            <a:ext cx="6400440" cy="139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Power Query, VBA, Сводные таблицы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Множество книг-источников у подразделений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Риск: «поставили Acell — сводные отчёты </a:t>
            </a:r>
            <a:br>
              <a:rPr sz="1800"/>
            </a:b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собираем руками»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Rounded Rectangle 5"/>
          <p:cNvSpPr/>
          <p:nvPr/>
        </p:nvSpPr>
        <p:spPr>
          <a:xfrm>
            <a:off x="7315200" y="1188720"/>
            <a:ext cx="4388760" cy="4571640"/>
          </a:xfrm>
          <a:prstGeom prst="roundRect">
            <a:avLst>
              <a:gd name="adj" fmla="val 16667"/>
            </a:avLst>
          </a:prstGeom>
          <a:solidFill>
            <a:srgbClr val="d6ee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" name="TextBox 6"/>
          <p:cNvSpPr/>
          <p:nvPr/>
        </p:nvSpPr>
        <p:spPr>
          <a:xfrm>
            <a:off x="7498080" y="3108960"/>
            <a:ext cx="4023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a6a78"/>
                </a:solidFill>
                <a:latin typeface="Calibri"/>
              </a:rPr>
              <a:t>assets/03_risk_gap.png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7"/>
          <p:cNvSpPr/>
          <p:nvPr/>
        </p:nvSpPr>
        <p:spPr>
          <a:xfrm>
            <a:off x="457200" y="64465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6a78"/>
                </a:solidFill>
                <a:latin typeface="Calibri"/>
              </a:rPr>
              <a:t>libre-macros · ООО ВсеяРусиНефть Деньги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8"/>
          <p:cNvSpPr/>
          <p:nvPr/>
        </p:nvSpPr>
        <p:spPr>
          <a:xfrm>
            <a:off x="10515600" y="644652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6a78"/>
                </a:solidFill>
                <a:latin typeface="Calibri"/>
              </a:rPr>
              <a:t>3 / 14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" name="TextBox 2"/>
          <p:cNvSpPr/>
          <p:nvPr/>
        </p:nvSpPr>
        <p:spPr>
          <a:xfrm>
            <a:off x="54864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b3d5c"/>
                </a:solidFill>
                <a:latin typeface="Calibri"/>
              </a:rPr>
              <a:t>Как сейчас (типичный Excel-контур)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3"/>
          <p:cNvSpPr/>
          <p:nvPr/>
        </p:nvSpPr>
        <p:spPr>
          <a:xfrm>
            <a:off x="548640" y="1188720"/>
            <a:ext cx="6400440" cy="186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Сбор из папки / почты / сетевого диска вручную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Power Query или «скопировать → вставить»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VBA / макросы, привязанные к Excel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Разные версии книг → разные ошибки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Ключевые знания у 1–2 сотрудников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Rounded Rectangle 4"/>
          <p:cNvSpPr/>
          <p:nvPr/>
        </p:nvSpPr>
        <p:spPr>
          <a:xfrm>
            <a:off x="7315200" y="1188720"/>
            <a:ext cx="4388760" cy="4571640"/>
          </a:xfrm>
          <a:prstGeom prst="roundRect">
            <a:avLst>
              <a:gd name="adj" fmla="val 16667"/>
            </a:avLst>
          </a:prstGeom>
          <a:solidFill>
            <a:srgbClr val="d6ee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TextBox 5"/>
          <p:cNvSpPr/>
          <p:nvPr/>
        </p:nvSpPr>
        <p:spPr>
          <a:xfrm>
            <a:off x="7498080" y="3108960"/>
            <a:ext cx="4023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a6a78"/>
                </a:solidFill>
                <a:latin typeface="Calibri"/>
              </a:rPr>
              <a:t>assets/04_excel_chaos.png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6"/>
          <p:cNvSpPr/>
          <p:nvPr/>
        </p:nvSpPr>
        <p:spPr>
          <a:xfrm>
            <a:off x="457200" y="64465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6a78"/>
                </a:solidFill>
                <a:latin typeface="Calibri"/>
              </a:rPr>
              <a:t>libre-macros · ООО ВсеяРусиНефть Деньги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7"/>
          <p:cNvSpPr/>
          <p:nvPr/>
        </p:nvSpPr>
        <p:spPr>
          <a:xfrm>
            <a:off x="10515600" y="644652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6a78"/>
                </a:solidFill>
                <a:latin typeface="Calibri"/>
              </a:rPr>
              <a:t>4 / 14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TextBox 2"/>
          <p:cNvSpPr/>
          <p:nvPr/>
        </p:nvSpPr>
        <p:spPr>
          <a:xfrm>
            <a:off x="54864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b3d5c"/>
                </a:solidFill>
                <a:latin typeface="Calibri"/>
              </a:rPr>
              <a:t>Решение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Rounded Rectangle 3"/>
          <p:cNvSpPr/>
          <p:nvPr/>
        </p:nvSpPr>
        <p:spPr>
          <a:xfrm>
            <a:off x="548640" y="1005840"/>
            <a:ext cx="11063880" cy="146268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TextBox 4"/>
          <p:cNvSpPr/>
          <p:nvPr/>
        </p:nvSpPr>
        <p:spPr>
          <a:xfrm>
            <a:off x="822960" y="1188720"/>
            <a:ext cx="105152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1" lang="en-US" sz="1800" spc="-1" strike="noStrike">
                <a:solidFill>
                  <a:srgbClr val="0b3d5c"/>
                </a:solidFill>
                <a:latin typeface="Calibri"/>
              </a:rPr>
              <a:t>AlterOffice Acell + libre-macros = воспроизводимый конвейер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b3d5c"/>
                </a:solidFill>
                <a:latin typeface="Calibri"/>
                <a:ea typeface="Noto Sans CJK SC"/>
              </a:rPr>
              <a:t>«собрать → очистить → свести → оформить </a:t>
            </a:r>
            <a:r>
              <a:rPr b="1" lang="en-US" sz="1800" spc="-1" strike="noStrike">
                <a:solidFill>
                  <a:srgbClr val="0b3d5c"/>
                </a:solidFill>
                <a:latin typeface="Calibri"/>
              </a:rPr>
              <a:t>→ [разделить]» </a:t>
            </a:r>
            <a:br>
              <a:rPr sz="1800"/>
            </a:br>
            <a:r>
              <a:rPr b="1" lang="en-US" sz="1800" spc="-1" strike="noStrike">
                <a:solidFill>
                  <a:srgbClr val="0b3d5c"/>
                </a:solidFill>
                <a:latin typeface="Calibri"/>
              </a:rPr>
              <a:t>без Microsoft Excel и без Power Query.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Rounded Rectangle 5"/>
          <p:cNvSpPr/>
          <p:nvPr/>
        </p:nvSpPr>
        <p:spPr>
          <a:xfrm>
            <a:off x="548640" y="2743200"/>
            <a:ext cx="3474360" cy="1828440"/>
          </a:xfrm>
          <a:prstGeom prst="roundRect">
            <a:avLst>
              <a:gd name="adj" fmla="val 16667"/>
            </a:avLst>
          </a:prstGeom>
          <a:solidFill>
            <a:srgbClr val="d6ee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" name="TextBox 6"/>
          <p:cNvSpPr/>
          <p:nvPr/>
        </p:nvSpPr>
        <p:spPr>
          <a:xfrm>
            <a:off x="731520" y="288036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a9b8e"/>
                </a:solidFill>
                <a:latin typeface="Calibri"/>
              </a:rPr>
              <a:t>1. Сбор данных и объединение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Box 7"/>
          <p:cNvSpPr/>
          <p:nvPr/>
        </p:nvSpPr>
        <p:spPr>
          <a:xfrm>
            <a:off x="731520" y="3600000"/>
            <a:ext cx="3108600" cy="7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Книги, листы, CSV/XML,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маски, «эта книга»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Rounded Rectangle 8"/>
          <p:cNvSpPr/>
          <p:nvPr/>
        </p:nvSpPr>
        <p:spPr>
          <a:xfrm>
            <a:off x="4297680" y="2743200"/>
            <a:ext cx="3474360" cy="1828440"/>
          </a:xfrm>
          <a:prstGeom prst="roundRect">
            <a:avLst>
              <a:gd name="adj" fmla="val 16667"/>
            </a:avLst>
          </a:prstGeom>
          <a:solidFill>
            <a:srgbClr val="d6ee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TextBox 9"/>
          <p:cNvSpPr/>
          <p:nvPr/>
        </p:nvSpPr>
        <p:spPr>
          <a:xfrm>
            <a:off x="4480560" y="288036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a9b8e"/>
                </a:solidFill>
                <a:latin typeface="Calibri"/>
              </a:rPr>
              <a:t>2. Постобработка (ВПР, сводная, формулы)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10"/>
          <p:cNvSpPr/>
          <p:nvPr/>
        </p:nvSpPr>
        <p:spPr>
          <a:xfrm>
            <a:off x="4480560" y="3600000"/>
            <a:ext cx="3108600" cy="7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Очистка данных, форма таблицы, формулы, ВПР, группировка, агрегация,</a:t>
            </a:r>
            <a:br>
              <a:rPr sz="1400"/>
            </a:b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оформление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Rounded Rectangle 11"/>
          <p:cNvSpPr/>
          <p:nvPr/>
        </p:nvSpPr>
        <p:spPr>
          <a:xfrm>
            <a:off x="8046720" y="2743200"/>
            <a:ext cx="3474360" cy="1828440"/>
          </a:xfrm>
          <a:prstGeom prst="roundRect">
            <a:avLst>
              <a:gd name="adj" fmla="val 16667"/>
            </a:avLst>
          </a:prstGeom>
          <a:solidFill>
            <a:srgbClr val="d6ee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TextBox 12"/>
          <p:cNvSpPr/>
          <p:nvPr/>
        </p:nvSpPr>
        <p:spPr>
          <a:xfrm>
            <a:off x="8229600" y="288036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a9b8e"/>
                </a:solidFill>
                <a:latin typeface="Calibri"/>
              </a:rPr>
              <a:t>3. Разделение данных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13"/>
          <p:cNvSpPr/>
          <p:nvPr/>
        </p:nvSpPr>
        <p:spPr>
          <a:xfrm>
            <a:off x="8229600" y="3383280"/>
            <a:ext cx="31086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Опционально – разделение собранных и обработанных данных по произвольным правилам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Rounded Rectangle 14"/>
          <p:cNvSpPr/>
          <p:nvPr/>
        </p:nvSpPr>
        <p:spPr>
          <a:xfrm>
            <a:off x="548640" y="4754880"/>
            <a:ext cx="11063880" cy="1371240"/>
          </a:xfrm>
          <a:prstGeom prst="roundRect">
            <a:avLst>
              <a:gd name="adj" fmla="val 16667"/>
            </a:avLst>
          </a:prstGeom>
          <a:solidFill>
            <a:srgbClr val="d6ee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" name="TextBox 15"/>
          <p:cNvSpPr/>
          <p:nvPr/>
        </p:nvSpPr>
        <p:spPr>
          <a:xfrm>
            <a:off x="731520" y="5074920"/>
            <a:ext cx="10698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a6a78"/>
                </a:solidFill>
                <a:latin typeface="Calibri"/>
              </a:rPr>
              <a:t>assets/05_pipeline.png — горизонтальный pipeline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16"/>
          <p:cNvSpPr/>
          <p:nvPr/>
        </p:nvSpPr>
        <p:spPr>
          <a:xfrm>
            <a:off x="457200" y="64465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6a78"/>
                </a:solidFill>
                <a:latin typeface="Calibri"/>
              </a:rPr>
              <a:t>libre-macros · ООО ВсеяРусиНефть Деньги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17"/>
          <p:cNvSpPr/>
          <p:nvPr/>
        </p:nvSpPr>
        <p:spPr>
          <a:xfrm>
            <a:off x="10515600" y="644652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6a78"/>
                </a:solidFill>
                <a:latin typeface="Calibri"/>
              </a:rPr>
              <a:t>5 / 14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TextBox 2"/>
          <p:cNvSpPr/>
          <p:nvPr/>
        </p:nvSpPr>
        <p:spPr>
          <a:xfrm>
            <a:off x="54864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b3d5c"/>
                </a:solidFill>
                <a:latin typeface="Calibri"/>
              </a:rPr>
              <a:t>libre-macros — что это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3"/>
          <p:cNvSpPr/>
          <p:nvPr/>
        </p:nvSpPr>
        <p:spPr>
          <a:xfrm>
            <a:off x="548640" y="1097280"/>
            <a:ext cx="10972440" cy="14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Пакет Python-макросов для LibreOffice Calc/ AlterOffice Acell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Управляется листом параметров — декларативный стиль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Визард параметров – графический интерфейс построения параметров шагов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Расширяемость: свой код в файлах плагинов (functions_pp.py / functions_final.py)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Rounded Rectangle 4"/>
          <p:cNvSpPr/>
          <p:nvPr/>
        </p:nvSpPr>
        <p:spPr>
          <a:xfrm>
            <a:off x="548640" y="5029200"/>
            <a:ext cx="11063880" cy="91404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" name="TextBox 5"/>
          <p:cNvSpPr/>
          <p:nvPr/>
        </p:nvSpPr>
        <p:spPr>
          <a:xfrm>
            <a:off x="822960" y="521208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b3d5c"/>
                </a:solidFill>
                <a:latin typeface="Calibri"/>
              </a:rPr>
              <a:t>Libre-macros - слой автоматизации для использования сотрудниками без необходимости глубокого понимания принципов программирования на языке Python.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6"/>
          <p:cNvSpPr/>
          <p:nvPr/>
        </p:nvSpPr>
        <p:spPr>
          <a:xfrm>
            <a:off x="457200" y="64465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6a78"/>
                </a:solidFill>
                <a:latin typeface="Calibri"/>
              </a:rPr>
              <a:t>libre-macros · ООО ВсеяРусиНефть Деньги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Box 7"/>
          <p:cNvSpPr/>
          <p:nvPr/>
        </p:nvSpPr>
        <p:spPr>
          <a:xfrm>
            <a:off x="10515600" y="644652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6a78"/>
                </a:solidFill>
                <a:latin typeface="Calibri"/>
              </a:rPr>
              <a:t>6 / 14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" name="TextBox 2"/>
          <p:cNvSpPr/>
          <p:nvPr/>
        </p:nvSpPr>
        <p:spPr>
          <a:xfrm>
            <a:off x="54864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b3d5c"/>
                </a:solidFill>
                <a:latin typeface="Calibri"/>
              </a:rPr>
              <a:t>Как устроен конвейер обработки данных в libre-macros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Rounded Rectangle 3"/>
          <p:cNvSpPr/>
          <p:nvPr/>
        </p:nvSpPr>
        <p:spPr>
          <a:xfrm>
            <a:off x="365760" y="1097280"/>
            <a:ext cx="1782720" cy="1234080"/>
          </a:xfrm>
          <a:prstGeom prst="roundRect">
            <a:avLst>
              <a:gd name="adj" fmla="val 16667"/>
            </a:avLst>
          </a:prstGeom>
          <a:solidFill>
            <a:srgbClr val="0b3d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" name="TextBox 4"/>
          <p:cNvSpPr/>
          <p:nvPr/>
        </p:nvSpPr>
        <p:spPr>
          <a:xfrm>
            <a:off x="411480" y="1280160"/>
            <a:ext cx="16912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Параметры_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Объединения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5"/>
          <p:cNvSpPr/>
          <p:nvPr/>
        </p:nvSpPr>
        <p:spPr>
          <a:xfrm>
            <a:off x="2057400" y="1417320"/>
            <a:ext cx="319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a9b8e"/>
                </a:solidFill>
                <a:latin typeface="Calibri"/>
              </a:rPr>
              <a:t>→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Rounded Rectangle 6"/>
          <p:cNvSpPr/>
          <p:nvPr/>
        </p:nvSpPr>
        <p:spPr>
          <a:xfrm>
            <a:off x="2331720" y="1097280"/>
            <a:ext cx="1782720" cy="1234080"/>
          </a:xfrm>
          <a:prstGeom prst="roundRect">
            <a:avLst>
              <a:gd name="adj" fmla="val 16667"/>
            </a:avLst>
          </a:prstGeom>
          <a:solidFill>
            <a:srgbClr val="0b3d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" name="TextBox 7"/>
          <p:cNvSpPr/>
          <p:nvPr/>
        </p:nvSpPr>
        <p:spPr>
          <a:xfrm>
            <a:off x="2377440" y="1280160"/>
            <a:ext cx="16912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Источники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Box 8"/>
          <p:cNvSpPr/>
          <p:nvPr/>
        </p:nvSpPr>
        <p:spPr>
          <a:xfrm>
            <a:off x="4023360" y="1417320"/>
            <a:ext cx="319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a9b8e"/>
                </a:solidFill>
                <a:latin typeface="Calibri"/>
              </a:rPr>
              <a:t>→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Rounded Rectangle 9"/>
          <p:cNvSpPr/>
          <p:nvPr/>
        </p:nvSpPr>
        <p:spPr>
          <a:xfrm>
            <a:off x="4297680" y="1097280"/>
            <a:ext cx="1782720" cy="1234080"/>
          </a:xfrm>
          <a:prstGeom prst="roundRect">
            <a:avLst>
              <a:gd name="adj" fmla="val 16667"/>
            </a:avLst>
          </a:prstGeom>
          <a:solidFill>
            <a:srgbClr val="0b3d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" name="TextBox 10"/>
          <p:cNvSpPr/>
          <p:nvPr/>
        </p:nvSpPr>
        <p:spPr>
          <a:xfrm>
            <a:off x="4343400" y="1280160"/>
            <a:ext cx="16912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Сбор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11"/>
          <p:cNvSpPr/>
          <p:nvPr/>
        </p:nvSpPr>
        <p:spPr>
          <a:xfrm>
            <a:off x="5989320" y="1417320"/>
            <a:ext cx="319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a9b8e"/>
                </a:solidFill>
                <a:latin typeface="Calibri"/>
              </a:rPr>
              <a:t>→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Rounded Rectangle 12"/>
          <p:cNvSpPr/>
          <p:nvPr/>
        </p:nvSpPr>
        <p:spPr>
          <a:xfrm>
            <a:off x="6263640" y="1097280"/>
            <a:ext cx="1782720" cy="1234080"/>
          </a:xfrm>
          <a:prstGeom prst="roundRect">
            <a:avLst>
              <a:gd name="adj" fmla="val 16667"/>
            </a:avLst>
          </a:prstGeom>
          <a:solidFill>
            <a:srgbClr val="0b3d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TextBox 13"/>
          <p:cNvSpPr/>
          <p:nvPr/>
        </p:nvSpPr>
        <p:spPr>
          <a:xfrm>
            <a:off x="6309360" y="1280160"/>
            <a:ext cx="16912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Постобработка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Box 14"/>
          <p:cNvSpPr/>
          <p:nvPr/>
        </p:nvSpPr>
        <p:spPr>
          <a:xfrm>
            <a:off x="7955280" y="1417320"/>
            <a:ext cx="319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a9b8e"/>
                </a:solidFill>
                <a:latin typeface="Calibri"/>
              </a:rPr>
              <a:t>→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Rounded Rectangle 15"/>
          <p:cNvSpPr/>
          <p:nvPr/>
        </p:nvSpPr>
        <p:spPr>
          <a:xfrm>
            <a:off x="8229600" y="1097280"/>
            <a:ext cx="1782720" cy="1234080"/>
          </a:xfrm>
          <a:prstGeom prst="roundRect">
            <a:avLst>
              <a:gd name="adj" fmla="val 16667"/>
            </a:avLst>
          </a:prstGeom>
          <a:solidFill>
            <a:srgbClr val="0b3d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TextBox 16"/>
          <p:cNvSpPr/>
          <p:nvPr/>
        </p:nvSpPr>
        <p:spPr>
          <a:xfrm>
            <a:off x="8275320" y="1280160"/>
            <a:ext cx="16912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Финальная обработка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Box 17"/>
          <p:cNvSpPr/>
          <p:nvPr/>
        </p:nvSpPr>
        <p:spPr>
          <a:xfrm>
            <a:off x="9921240" y="1417320"/>
            <a:ext cx="319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a9b8e"/>
                </a:solidFill>
                <a:latin typeface="Calibri"/>
              </a:rPr>
              <a:t>→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Rounded Rectangle 18"/>
          <p:cNvSpPr/>
          <p:nvPr/>
        </p:nvSpPr>
        <p:spPr>
          <a:xfrm>
            <a:off x="10195560" y="1097280"/>
            <a:ext cx="1782720" cy="1234080"/>
          </a:xfrm>
          <a:prstGeom prst="roundRect">
            <a:avLst>
              <a:gd name="adj" fmla="val 16667"/>
            </a:avLst>
          </a:prstGeom>
          <a:solidFill>
            <a:srgbClr val="0b3d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TextBox 19"/>
          <p:cNvSpPr/>
          <p:nvPr/>
        </p:nvSpPr>
        <p:spPr>
          <a:xfrm>
            <a:off x="10241280" y="1280160"/>
            <a:ext cx="16912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Журнал обработки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Box 20"/>
          <p:cNvSpPr/>
          <p:nvPr/>
        </p:nvSpPr>
        <p:spPr>
          <a:xfrm>
            <a:off x="548640" y="2651760"/>
            <a:ext cx="5943240" cy="248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Один список шагов на одном листе параметров или оркестратор нескольких листво параметров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  <a:ea typeface="Noto Sans CJK SC"/>
              </a:rPr>
              <a:t>•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  <a:ea typeface="Noto Sans CJK SC"/>
              </a:rPr>
              <a:t>Повторяемый сценарий: сохранили книгу параметров — повторили отчёт</a:t>
            </a:r>
            <a:br>
              <a:rPr sz="1600"/>
            </a:b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• Экспорт и импорт сценариев: для обмена и распространения и переносимости на </a:t>
            </a:r>
            <a:br>
              <a:rPr sz="1600"/>
            </a:b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другие рабочие места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Журнал прогона для аудита и разбора возможных сбоев в работе макроса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Rounded Rectangle 21"/>
          <p:cNvSpPr/>
          <p:nvPr/>
        </p:nvSpPr>
        <p:spPr>
          <a:xfrm>
            <a:off x="6858000" y="2651760"/>
            <a:ext cx="4845960" cy="3200040"/>
          </a:xfrm>
          <a:prstGeom prst="roundRect">
            <a:avLst>
              <a:gd name="adj" fmla="val 16667"/>
            </a:avLst>
          </a:prstGeom>
          <a:solidFill>
            <a:srgbClr val="d6ee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" name="TextBox 22"/>
          <p:cNvSpPr/>
          <p:nvPr/>
        </p:nvSpPr>
        <p:spPr>
          <a:xfrm>
            <a:off x="7040880" y="3886200"/>
            <a:ext cx="4480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a6a78"/>
                </a:solidFill>
                <a:latin typeface="Calibri"/>
              </a:rPr>
              <a:t>assets/07_architecture.png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Box 23"/>
          <p:cNvSpPr/>
          <p:nvPr/>
        </p:nvSpPr>
        <p:spPr>
          <a:xfrm>
            <a:off x="457200" y="64465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6a78"/>
                </a:solidFill>
                <a:latin typeface="Calibri"/>
              </a:rPr>
              <a:t>libre-macros · ООО ВсеяРусиНефть Деньги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Box 24"/>
          <p:cNvSpPr/>
          <p:nvPr/>
        </p:nvSpPr>
        <p:spPr>
          <a:xfrm>
            <a:off x="10515600" y="644652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6a78"/>
                </a:solidFill>
                <a:latin typeface="Calibri"/>
              </a:rPr>
              <a:t>7 / 14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TextBox 2"/>
          <p:cNvSpPr/>
          <p:nvPr/>
        </p:nvSpPr>
        <p:spPr>
          <a:xfrm>
            <a:off x="54864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0b3d5c"/>
                </a:solidFill>
                <a:latin typeface="Calibri"/>
              </a:rPr>
              <a:t>Замена функционала Excel / Power Query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Rounded Rectangle 3"/>
          <p:cNvSpPr/>
          <p:nvPr/>
        </p:nvSpPr>
        <p:spPr>
          <a:xfrm>
            <a:off x="365760" y="1051560"/>
            <a:ext cx="2788560" cy="475452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" name="Rectangle 4"/>
          <p:cNvSpPr/>
          <p:nvPr/>
        </p:nvSpPr>
        <p:spPr>
          <a:xfrm>
            <a:off x="365760" y="1051560"/>
            <a:ext cx="2788560" cy="502560"/>
          </a:xfrm>
          <a:prstGeom prst="rect">
            <a:avLst/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" name="TextBox 5"/>
          <p:cNvSpPr/>
          <p:nvPr/>
        </p:nvSpPr>
        <p:spPr>
          <a:xfrm>
            <a:off x="457200" y="1115640"/>
            <a:ext cx="2605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Сбор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Box 6"/>
          <p:cNvSpPr/>
          <p:nvPr/>
        </p:nvSpPr>
        <p:spPr>
          <a:xfrm>
            <a:off x="502920" y="1737360"/>
            <a:ext cx="251424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Много файлов и маски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CSV / XML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«Эта книга»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Вовлечение листов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Rounded Rectangle 7"/>
          <p:cNvSpPr/>
          <p:nvPr/>
        </p:nvSpPr>
        <p:spPr>
          <a:xfrm>
            <a:off x="3291840" y="1051560"/>
            <a:ext cx="2788560" cy="475452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" name="Rectangle 8"/>
          <p:cNvSpPr/>
          <p:nvPr/>
        </p:nvSpPr>
        <p:spPr>
          <a:xfrm>
            <a:off x="3291840" y="1051560"/>
            <a:ext cx="2788560" cy="502560"/>
          </a:xfrm>
          <a:prstGeom prst="rect">
            <a:avLst/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7" name="TextBox 9"/>
          <p:cNvSpPr/>
          <p:nvPr/>
        </p:nvSpPr>
        <p:spPr>
          <a:xfrm>
            <a:off x="3383280" y="1115640"/>
            <a:ext cx="2605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Очистка и форма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Box 10"/>
          <p:cNvSpPr/>
          <p:nvPr/>
        </p:nvSpPr>
        <p:spPr>
          <a:xfrm>
            <a:off x="3429000" y="1737360"/>
            <a:ext cx="2514240" cy="138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Дубликаты, замена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Текст, столбцы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Формулы, условный столбец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Разделение столбцов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Rounded Rectangle 11"/>
          <p:cNvSpPr/>
          <p:nvPr/>
        </p:nvSpPr>
        <p:spPr>
          <a:xfrm>
            <a:off x="6217920" y="1051560"/>
            <a:ext cx="2788560" cy="475452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0" name="Rectangle 12"/>
          <p:cNvSpPr/>
          <p:nvPr/>
        </p:nvSpPr>
        <p:spPr>
          <a:xfrm>
            <a:off x="6217920" y="1051560"/>
            <a:ext cx="2788560" cy="502560"/>
          </a:xfrm>
          <a:prstGeom prst="rect">
            <a:avLst/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" name="TextBox 13"/>
          <p:cNvSpPr/>
          <p:nvPr/>
        </p:nvSpPr>
        <p:spPr>
          <a:xfrm>
            <a:off x="6309360" y="1115640"/>
            <a:ext cx="2605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Аналитика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Box 14"/>
          <p:cNvSpPr/>
          <p:nvPr/>
        </p:nvSpPr>
        <p:spPr>
          <a:xfrm>
            <a:off x="6355080" y="1737360"/>
            <a:ext cx="251424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ВПР / lookup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Сводная таблица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Количество значений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Группировка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Rounded Rectangle 15"/>
          <p:cNvSpPr/>
          <p:nvPr/>
        </p:nvSpPr>
        <p:spPr>
          <a:xfrm>
            <a:off x="9144000" y="1051560"/>
            <a:ext cx="2788560" cy="475452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" name="Rectangle 16"/>
          <p:cNvSpPr/>
          <p:nvPr/>
        </p:nvSpPr>
        <p:spPr>
          <a:xfrm>
            <a:off x="9144000" y="1051560"/>
            <a:ext cx="2788560" cy="502560"/>
          </a:xfrm>
          <a:prstGeom prst="rect">
            <a:avLst/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" name="TextBox 17"/>
          <p:cNvSpPr/>
          <p:nvPr/>
        </p:nvSpPr>
        <p:spPr>
          <a:xfrm>
            <a:off x="9235440" y="1115640"/>
            <a:ext cx="2605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Оформление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Box 18"/>
          <p:cNvSpPr/>
          <p:nvPr/>
        </p:nvSpPr>
        <p:spPr>
          <a:xfrm>
            <a:off x="9281160" y="1737360"/>
            <a:ext cx="251424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Сетка, зебра, градиент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Автофильтр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Печать, закрепление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Форматы денег/дат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Box 19"/>
          <p:cNvSpPr/>
          <p:nvPr/>
        </p:nvSpPr>
        <p:spPr>
          <a:xfrm>
            <a:off x="548640" y="594360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a6a78"/>
                </a:solidFill>
                <a:latin typeface="Calibri"/>
              </a:rPr>
              <a:t>Не является «100% Excel Power Query» — закрывает типовые сценарии; остальное — сфера развития.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Box 20"/>
          <p:cNvSpPr/>
          <p:nvPr/>
        </p:nvSpPr>
        <p:spPr>
          <a:xfrm>
            <a:off x="457200" y="64465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6a78"/>
                </a:solidFill>
                <a:latin typeface="Calibri"/>
              </a:rPr>
              <a:t>libre-macros · ООО ВсеяРусиНефть Деньги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Box 21"/>
          <p:cNvSpPr/>
          <p:nvPr/>
        </p:nvSpPr>
        <p:spPr>
          <a:xfrm>
            <a:off x="10515600" y="644652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6a78"/>
                </a:solidFill>
                <a:latin typeface="Calibri"/>
              </a:rPr>
              <a:t>8 / 14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1" name="TextBox 2"/>
          <p:cNvSpPr/>
          <p:nvPr/>
        </p:nvSpPr>
        <p:spPr>
          <a:xfrm>
            <a:off x="54864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b3d5c"/>
                </a:solidFill>
                <a:latin typeface="Calibri"/>
              </a:rPr>
              <a:t>Типовой сценарий применения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Rounded Rectangle 3"/>
          <p:cNvSpPr/>
          <p:nvPr/>
        </p:nvSpPr>
        <p:spPr>
          <a:xfrm>
            <a:off x="548640" y="1005840"/>
            <a:ext cx="502560" cy="502560"/>
          </a:xfrm>
          <a:prstGeom prst="roundRect">
            <a:avLst>
              <a:gd name="adj" fmla="val 16667"/>
            </a:avLst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3" name="TextBox 4"/>
          <p:cNvSpPr/>
          <p:nvPr/>
        </p:nvSpPr>
        <p:spPr>
          <a:xfrm>
            <a:off x="548640" y="1078920"/>
            <a:ext cx="502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Box 5"/>
          <p:cNvSpPr/>
          <p:nvPr/>
        </p:nvSpPr>
        <p:spPr>
          <a:xfrm>
            <a:off x="1280160" y="1097280"/>
            <a:ext cx="5943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Подразделения кладут свой файлы с данными в сетевую папку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Rounded Rectangle 6"/>
          <p:cNvSpPr/>
          <p:nvPr/>
        </p:nvSpPr>
        <p:spPr>
          <a:xfrm>
            <a:off x="548640" y="1645920"/>
            <a:ext cx="502560" cy="502560"/>
          </a:xfrm>
          <a:prstGeom prst="roundRect">
            <a:avLst>
              <a:gd name="adj" fmla="val 16667"/>
            </a:avLst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6" name="TextBox 7"/>
          <p:cNvSpPr/>
          <p:nvPr/>
        </p:nvSpPr>
        <p:spPr>
          <a:xfrm>
            <a:off x="548640" y="1719000"/>
            <a:ext cx="502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Box 8"/>
          <p:cNvSpPr/>
          <p:nvPr/>
        </p:nvSpPr>
        <p:spPr>
          <a:xfrm>
            <a:off x="1280160" y="1737360"/>
            <a:ext cx="5943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Ответственный за сбор создает/открывает книгу параметров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Rounded Rectangle 9"/>
          <p:cNvSpPr/>
          <p:nvPr/>
        </p:nvSpPr>
        <p:spPr>
          <a:xfrm>
            <a:off x="548640" y="2286000"/>
            <a:ext cx="502560" cy="502560"/>
          </a:xfrm>
          <a:prstGeom prst="roundRect">
            <a:avLst>
              <a:gd name="adj" fmla="val 16667"/>
            </a:avLst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9" name="TextBox 10"/>
          <p:cNvSpPr/>
          <p:nvPr/>
        </p:nvSpPr>
        <p:spPr>
          <a:xfrm>
            <a:off x="548640" y="2359080"/>
            <a:ext cx="502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Box 11"/>
          <p:cNvSpPr/>
          <p:nvPr/>
        </p:nvSpPr>
        <p:spPr>
          <a:xfrm>
            <a:off x="1280160" y="2377440"/>
            <a:ext cx="5943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Запускает сбор данных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Rounded Rectangle 12"/>
          <p:cNvSpPr/>
          <p:nvPr/>
        </p:nvSpPr>
        <p:spPr>
          <a:xfrm>
            <a:off x="548640" y="2926080"/>
            <a:ext cx="502560" cy="502560"/>
          </a:xfrm>
          <a:prstGeom prst="roundRect">
            <a:avLst>
              <a:gd name="adj" fmla="val 16667"/>
            </a:avLst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" name="TextBox 13"/>
          <p:cNvSpPr/>
          <p:nvPr/>
        </p:nvSpPr>
        <p:spPr>
          <a:xfrm>
            <a:off x="548640" y="2999160"/>
            <a:ext cx="502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Box 14"/>
          <p:cNvSpPr/>
          <p:nvPr/>
        </p:nvSpPr>
        <p:spPr>
          <a:xfrm>
            <a:off x="1280160" y="3017520"/>
            <a:ext cx="5943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Макросы чистят, обогащают, соединяют, сводят данные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Rounded Rectangle 15"/>
          <p:cNvSpPr/>
          <p:nvPr/>
        </p:nvSpPr>
        <p:spPr>
          <a:xfrm>
            <a:off x="548640" y="3566160"/>
            <a:ext cx="502560" cy="502560"/>
          </a:xfrm>
          <a:prstGeom prst="roundRect">
            <a:avLst>
              <a:gd name="adj" fmla="val 16667"/>
            </a:avLst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5" name="TextBox 16"/>
          <p:cNvSpPr/>
          <p:nvPr/>
        </p:nvSpPr>
        <p:spPr>
          <a:xfrm>
            <a:off x="548640" y="3639240"/>
            <a:ext cx="502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Box 17"/>
          <p:cNvSpPr/>
          <p:nvPr/>
        </p:nvSpPr>
        <p:spPr>
          <a:xfrm>
            <a:off x="1280160" y="3657600"/>
            <a:ext cx="5943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Готовый лист + автофильтр / сводная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Rounded Rectangle 18"/>
          <p:cNvSpPr/>
          <p:nvPr/>
        </p:nvSpPr>
        <p:spPr>
          <a:xfrm>
            <a:off x="548640" y="4206240"/>
            <a:ext cx="502560" cy="502560"/>
          </a:xfrm>
          <a:prstGeom prst="roundRect">
            <a:avLst>
              <a:gd name="adj" fmla="val 16667"/>
            </a:avLst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8" name="TextBox 19"/>
          <p:cNvSpPr/>
          <p:nvPr/>
        </p:nvSpPr>
        <p:spPr>
          <a:xfrm>
            <a:off x="548640" y="4279320"/>
            <a:ext cx="502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6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Box 20"/>
          <p:cNvSpPr/>
          <p:nvPr/>
        </p:nvSpPr>
        <p:spPr>
          <a:xfrm>
            <a:off x="1280160" y="4297680"/>
            <a:ext cx="5943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При необходимости — данные разделяются на листы или книги по произвольным правилам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Rounded Rectangle 21"/>
          <p:cNvSpPr/>
          <p:nvPr/>
        </p:nvSpPr>
        <p:spPr>
          <a:xfrm>
            <a:off x="7498080" y="1097280"/>
            <a:ext cx="4205880" cy="4754520"/>
          </a:xfrm>
          <a:prstGeom prst="roundRect">
            <a:avLst>
              <a:gd name="adj" fmla="val 16667"/>
            </a:avLst>
          </a:prstGeom>
          <a:solidFill>
            <a:srgbClr val="d6ee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1" name="TextBox 22"/>
          <p:cNvSpPr/>
          <p:nvPr/>
        </p:nvSpPr>
        <p:spPr>
          <a:xfrm>
            <a:off x="7680960" y="3108960"/>
            <a:ext cx="3840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a6a78"/>
                </a:solidFill>
                <a:latin typeface="Calibri"/>
              </a:rPr>
              <a:t>assets/09_scenario.png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Box 23"/>
          <p:cNvSpPr/>
          <p:nvPr/>
        </p:nvSpPr>
        <p:spPr>
          <a:xfrm>
            <a:off x="457200" y="64465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6a78"/>
                </a:solidFill>
                <a:latin typeface="Calibri"/>
              </a:rPr>
              <a:t>libre-macros · ООО ВсеяРусиНефть Деньги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Box 24"/>
          <p:cNvSpPr/>
          <p:nvPr/>
        </p:nvSpPr>
        <p:spPr>
          <a:xfrm>
            <a:off x="10515600" y="644652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6a78"/>
                </a:solidFill>
                <a:latin typeface="Calibri"/>
              </a:rPr>
              <a:t>9 / 14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5" name="TextBox 2"/>
          <p:cNvSpPr/>
          <p:nvPr/>
        </p:nvSpPr>
        <p:spPr>
          <a:xfrm>
            <a:off x="548640" y="320040"/>
            <a:ext cx="6400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b3d5c"/>
                </a:solidFill>
                <a:latin typeface="Calibri"/>
              </a:rPr>
              <a:t>Удобство для пользователей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Box 3"/>
          <p:cNvSpPr/>
          <p:nvPr/>
        </p:nvSpPr>
        <p:spPr>
          <a:xfrm>
            <a:off x="548640" y="1097280"/>
            <a:ext cx="6400440" cy="186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Визард параметров — без ручного JSON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Подписи на русском, выбор столбцов из заголовков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Пресеты типовых сценариев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Меню и контекстное меню в Acell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Удобный и простой инсталятор (все в одном)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Rounded Rectangle 4"/>
          <p:cNvSpPr/>
          <p:nvPr/>
        </p:nvSpPr>
        <p:spPr>
          <a:xfrm>
            <a:off x="7315200" y="1097280"/>
            <a:ext cx="4388760" cy="4754520"/>
          </a:xfrm>
          <a:prstGeom prst="roundRect">
            <a:avLst>
              <a:gd name="adj" fmla="val 16667"/>
            </a:avLst>
          </a:prstGeom>
          <a:solidFill>
            <a:srgbClr val="d6ee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" name="TextBox 5"/>
          <p:cNvSpPr/>
          <p:nvPr/>
        </p:nvSpPr>
        <p:spPr>
          <a:xfrm>
            <a:off x="7498080" y="3108960"/>
            <a:ext cx="4023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5a6a78"/>
                </a:solidFill>
                <a:latin typeface="Calibri"/>
              </a:rPr>
              <a:t>Лучше реальный скрин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a6a78"/>
                </a:solidFill>
                <a:latin typeface="Calibri"/>
              </a:rPr>
              <a:t>assets/10_wizard_ui.png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Box 6"/>
          <p:cNvSpPr/>
          <p:nvPr/>
        </p:nvSpPr>
        <p:spPr>
          <a:xfrm>
            <a:off x="457200" y="64465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6a78"/>
                </a:solidFill>
                <a:latin typeface="Calibri"/>
              </a:rPr>
              <a:t>libre-macros · ООО ВсеяРусиНефть Деньги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Box 7"/>
          <p:cNvSpPr/>
          <p:nvPr/>
        </p:nvSpPr>
        <p:spPr>
          <a:xfrm>
            <a:off x="10515600" y="644652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6a78"/>
                </a:solidFill>
                <a:latin typeface="Calibri"/>
              </a:rPr>
              <a:t>10 / 14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2" name="TextBox 2"/>
          <p:cNvSpPr/>
          <p:nvPr/>
        </p:nvSpPr>
        <p:spPr>
          <a:xfrm>
            <a:off x="54864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b3d5c"/>
                </a:solidFill>
                <a:latin typeface="Calibri"/>
              </a:rPr>
              <a:t>Эффект и риски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Rounded Rectangle 3"/>
          <p:cNvSpPr/>
          <p:nvPr/>
        </p:nvSpPr>
        <p:spPr>
          <a:xfrm>
            <a:off x="457200" y="1051560"/>
            <a:ext cx="5486040" cy="475452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" name="TextBox 4"/>
          <p:cNvSpPr/>
          <p:nvPr/>
        </p:nvSpPr>
        <p:spPr>
          <a:xfrm>
            <a:off x="731520" y="123444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a9b8e"/>
                </a:solidFill>
                <a:latin typeface="Calibri"/>
              </a:rPr>
              <a:t>Эффект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Box 5"/>
          <p:cNvSpPr/>
          <p:nvPr/>
        </p:nvSpPr>
        <p:spPr>
          <a:xfrm>
            <a:off x="731520" y="1828800"/>
            <a:ext cx="4937400" cy="186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Обогащение функционала AlterOffice Acell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Повторяемые отчёты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Меньше ручного копирования и рутинных задач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Контроль работы через параметры и журнал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Расширение через плагины без изменения кода ядра решения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Rounded Rectangle 6"/>
          <p:cNvSpPr/>
          <p:nvPr/>
        </p:nvSpPr>
        <p:spPr>
          <a:xfrm>
            <a:off x="6217920" y="1051560"/>
            <a:ext cx="5486040" cy="475452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7" name="TextBox 7"/>
          <p:cNvSpPr/>
          <p:nvPr/>
        </p:nvSpPr>
        <p:spPr>
          <a:xfrm>
            <a:off x="6492240" y="123444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c04a3a"/>
                </a:solidFill>
                <a:latin typeface="Calibri"/>
              </a:rPr>
              <a:t>Риски → мнимизация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Box 8"/>
          <p:cNvSpPr/>
          <p:nvPr/>
        </p:nvSpPr>
        <p:spPr>
          <a:xfrm>
            <a:off x="6492240" y="1828800"/>
            <a:ext cx="4937400" cy="31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Не всё что может PowerQuery сразу → roadmap + пилот, сбор потребностей и доработка макросов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Обучение → Обучение ключевых пользователей и далее они распространяют решение на уровне экспорта импорта листов параметров с краткой инструкций “нажми эту кнопку”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Качество исходного кода → требуется разноплановое тестирование в разнообразных реальных сценариях применения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  <a:ea typeface="Noto Sans CJK SC"/>
              </a:rPr>
              <a:t>• </a:t>
            </a:r>
            <a:r>
              <a:rPr b="0" lang="en-US" sz="1500" spc="-1" strike="noStrike">
                <a:solidFill>
                  <a:srgbClr val="1a1a1a"/>
                </a:solidFill>
                <a:latin typeface="Calibri"/>
                <a:ea typeface="Noto Sans CJK SC"/>
              </a:rPr>
              <a:t>Сопровождение и внесение изменений </a:t>
            </a: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→ гит репозиторий, подробная документация разработчика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Box 9"/>
          <p:cNvSpPr/>
          <p:nvPr/>
        </p:nvSpPr>
        <p:spPr>
          <a:xfrm>
            <a:off x="457200" y="64465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6a78"/>
                </a:solidFill>
                <a:latin typeface="Calibri"/>
              </a:rPr>
              <a:t>libre-macros · ООО ВсеяРусиНефть Деньги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Box 10"/>
          <p:cNvSpPr/>
          <p:nvPr/>
        </p:nvSpPr>
        <p:spPr>
          <a:xfrm>
            <a:off x="10515600" y="644652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6a78"/>
                </a:solidFill>
                <a:latin typeface="Calibri"/>
              </a:rPr>
              <a:t>12 / 14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2" name="TextBox 2"/>
          <p:cNvSpPr/>
          <p:nvPr/>
        </p:nvSpPr>
        <p:spPr>
          <a:xfrm>
            <a:off x="54864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b3d5c"/>
                </a:solidFill>
                <a:latin typeface="Calibri"/>
              </a:rPr>
              <a:t>Предложение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Rounded Rectangle 3"/>
          <p:cNvSpPr/>
          <p:nvPr/>
        </p:nvSpPr>
        <p:spPr>
          <a:xfrm>
            <a:off x="548640" y="1188720"/>
            <a:ext cx="11063880" cy="91404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4" name="Rounded Rectangle 4"/>
          <p:cNvSpPr/>
          <p:nvPr/>
        </p:nvSpPr>
        <p:spPr>
          <a:xfrm>
            <a:off x="777240" y="1371600"/>
            <a:ext cx="639720" cy="548280"/>
          </a:xfrm>
          <a:prstGeom prst="roundRect">
            <a:avLst>
              <a:gd name="adj" fmla="val 16667"/>
            </a:avLst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5" name="TextBox 5"/>
          <p:cNvSpPr/>
          <p:nvPr/>
        </p:nvSpPr>
        <p:spPr>
          <a:xfrm>
            <a:off x="777240" y="1444680"/>
            <a:ext cx="639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Box 6"/>
          <p:cNvSpPr/>
          <p:nvPr/>
        </p:nvSpPr>
        <p:spPr>
          <a:xfrm>
            <a:off x="1645920" y="1444680"/>
            <a:ext cx="9600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Утвердить стек: AlterOffice + libre-macros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Rounded Rectangle 7"/>
          <p:cNvSpPr/>
          <p:nvPr/>
        </p:nvSpPr>
        <p:spPr>
          <a:xfrm>
            <a:off x="548640" y="2240280"/>
            <a:ext cx="11063880" cy="91404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8" name="Rounded Rectangle 8"/>
          <p:cNvSpPr/>
          <p:nvPr/>
        </p:nvSpPr>
        <p:spPr>
          <a:xfrm>
            <a:off x="777240" y="2423160"/>
            <a:ext cx="639720" cy="548280"/>
          </a:xfrm>
          <a:prstGeom prst="roundRect">
            <a:avLst>
              <a:gd name="adj" fmla="val 16667"/>
            </a:avLst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9" name="TextBox 9"/>
          <p:cNvSpPr/>
          <p:nvPr/>
        </p:nvSpPr>
        <p:spPr>
          <a:xfrm>
            <a:off x="777240" y="2496240"/>
            <a:ext cx="639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Box 10"/>
          <p:cNvSpPr/>
          <p:nvPr/>
        </p:nvSpPr>
        <p:spPr>
          <a:xfrm>
            <a:off x="1645920" y="2496240"/>
            <a:ext cx="9600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Пилот: 1–2 критичных отчёта (срок N недель)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Rounded Rectangle 11"/>
          <p:cNvSpPr/>
          <p:nvPr/>
        </p:nvSpPr>
        <p:spPr>
          <a:xfrm>
            <a:off x="548640" y="3291840"/>
            <a:ext cx="11063880" cy="91404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2" name="Rounded Rectangle 12"/>
          <p:cNvSpPr/>
          <p:nvPr/>
        </p:nvSpPr>
        <p:spPr>
          <a:xfrm>
            <a:off x="777240" y="3474720"/>
            <a:ext cx="639720" cy="548280"/>
          </a:xfrm>
          <a:prstGeom prst="roundRect">
            <a:avLst>
              <a:gd name="adj" fmla="val 16667"/>
            </a:avLst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3" name="TextBox 13"/>
          <p:cNvSpPr/>
          <p:nvPr/>
        </p:nvSpPr>
        <p:spPr>
          <a:xfrm>
            <a:off x="777240" y="3547800"/>
            <a:ext cx="639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Box 14"/>
          <p:cNvSpPr/>
          <p:nvPr/>
        </p:nvSpPr>
        <p:spPr>
          <a:xfrm>
            <a:off x="1645920" y="3547800"/>
            <a:ext cx="9600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Назначить владельца книги параметров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Rounded Rectangle 15"/>
          <p:cNvSpPr/>
          <p:nvPr/>
        </p:nvSpPr>
        <p:spPr>
          <a:xfrm>
            <a:off x="548640" y="4343400"/>
            <a:ext cx="11063880" cy="91404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6" name="Rounded Rectangle 16"/>
          <p:cNvSpPr/>
          <p:nvPr/>
        </p:nvSpPr>
        <p:spPr>
          <a:xfrm>
            <a:off x="777240" y="4526280"/>
            <a:ext cx="639720" cy="548280"/>
          </a:xfrm>
          <a:prstGeom prst="roundRect">
            <a:avLst>
              <a:gd name="adj" fmla="val 16667"/>
            </a:avLst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7" name="TextBox 17"/>
          <p:cNvSpPr/>
          <p:nvPr/>
        </p:nvSpPr>
        <p:spPr>
          <a:xfrm>
            <a:off x="777240" y="4599360"/>
            <a:ext cx="639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04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Box 18"/>
          <p:cNvSpPr/>
          <p:nvPr/>
        </p:nvSpPr>
        <p:spPr>
          <a:xfrm>
            <a:off x="1645920" y="4599360"/>
            <a:ext cx="9600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По итогам пилота — план тиража и обучение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Box 19"/>
          <p:cNvSpPr/>
          <p:nvPr/>
        </p:nvSpPr>
        <p:spPr>
          <a:xfrm>
            <a:off x="457200" y="64465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6a78"/>
                </a:solidFill>
                <a:latin typeface="Calibri"/>
              </a:rPr>
              <a:t>libre-macros · ООО ВсеяРусиНефть Деньги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Box 20"/>
          <p:cNvSpPr/>
          <p:nvPr/>
        </p:nvSpPr>
        <p:spPr>
          <a:xfrm>
            <a:off x="10515600" y="644652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6a78"/>
                </a:solidFill>
                <a:latin typeface="Calibri"/>
              </a:rPr>
              <a:t>13 / 14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3d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2" name="Rounded Rectangle 2"/>
          <p:cNvSpPr/>
          <p:nvPr/>
        </p:nvSpPr>
        <p:spPr>
          <a:xfrm>
            <a:off x="0" y="0"/>
            <a:ext cx="12191400" cy="6857640"/>
          </a:xfrm>
          <a:prstGeom prst="roundRect">
            <a:avLst>
              <a:gd name="adj" fmla="val 16667"/>
            </a:avLst>
          </a:prstGeom>
          <a:solidFill>
            <a:srgbClr val="d6ee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3" name="TextBox 3"/>
          <p:cNvSpPr/>
          <p:nvPr/>
        </p:nvSpPr>
        <p:spPr>
          <a:xfrm>
            <a:off x="182880" y="3063240"/>
            <a:ext cx="11825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5a6a78"/>
                </a:solidFill>
                <a:latin typeface="Calibri"/>
              </a:rPr>
              <a:t>Положите картинку: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a6a78"/>
                </a:solidFill>
                <a:latin typeface="Calibri"/>
              </a:rPr>
              <a:t>assets/14_closing.png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Rectangle 4"/>
          <p:cNvSpPr/>
          <p:nvPr/>
        </p:nvSpPr>
        <p:spPr>
          <a:xfrm>
            <a:off x="0" y="2011680"/>
            <a:ext cx="12191400" cy="2742840"/>
          </a:xfrm>
          <a:prstGeom prst="rect">
            <a:avLst/>
          </a:prstGeom>
          <a:solidFill>
            <a:srgbClr val="0b3d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5" name="TextBox 5"/>
          <p:cNvSpPr/>
          <p:nvPr/>
        </p:nvSpPr>
        <p:spPr>
          <a:xfrm>
            <a:off x="731520" y="228600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Вопросы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Box 6"/>
          <p:cNvSpPr/>
          <p:nvPr/>
        </p:nvSpPr>
        <p:spPr>
          <a:xfrm>
            <a:off x="731520" y="3200400"/>
            <a:ext cx="10515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600" spc="-1" strike="noStrike">
                <a:solidFill>
                  <a:srgbClr val="d6eeea"/>
                </a:solidFill>
                <a:latin typeface="Calibri"/>
              </a:rPr>
              <a:t>Демо стенда · документация docs/ · версия пакета в macro-lib/version.txt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6eeea"/>
                </a:solidFill>
                <a:latin typeface="Calibri"/>
              </a:rPr>
              <a:t>ООО ВсеяРусиНефть Деньги · 2026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ru-RU</dc:language>
  <cp:lastModifiedBy/>
  <dcterms:modified xsi:type="dcterms:W3CDTF">2026-08-06T12:14:48Z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