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CFB96E-6A50-46D0-BBD5-2C4CCC5C23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B8B602-AE39-49F5-A979-5FAA20D0BA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FE643D-1CB4-4E77-841F-6BE8AFF40E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27900F-FC13-40E8-ADA9-7CA5682211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11FDD7-BE81-41EF-A36F-6DA542B200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925A32-1D56-4869-B236-D7C82E3CA4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1B42DD-16E5-407A-BCCD-60B2D704B6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513942-76BD-4DC8-9AC3-3CEC1F9B75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214FE5-79F1-4244-B386-A9DB1F7B87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446F6F-1035-472A-9BA4-15E22D3D1A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528C64-A169-4381-8518-E0DD983B3A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A8D7F9-7D85-4E0F-84BF-909D6F10B7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990579-ADC3-403B-ADB1-EA0D6A05D8D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PT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PT Sans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PT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PT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PT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PT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PT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2" name="Picture 2" descr="s01_title.png"/>
          <p:cNvPicPr/>
          <p:nvPr/>
        </p:nvPicPr>
        <p:blipFill>
          <a:blip r:embed="rId1"/>
          <a:stretch/>
        </p:blipFill>
        <p:spPr>
          <a:xfrm>
            <a:off x="5580000" y="1852200"/>
            <a:ext cx="6611400" cy="3187440"/>
          </a:xfrm>
          <a:prstGeom prst="rect">
            <a:avLst/>
          </a:prstGeom>
          <a:ln w="0">
            <a:noFill/>
          </a:ln>
        </p:spPr>
      </p:pic>
      <p:sp>
        <p:nvSpPr>
          <p:cNvPr id="43" name="Rectangle 3"/>
          <p:cNvSpPr/>
          <p:nvPr/>
        </p:nvSpPr>
        <p:spPr>
          <a:xfrm>
            <a:off x="0" y="0"/>
            <a:ext cx="5579640" cy="6857280"/>
          </a:xfrm>
          <a:prstGeom prst="rect">
            <a:avLst/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" name="TextBox 5"/>
          <p:cNvSpPr/>
          <p:nvPr/>
        </p:nvSpPr>
        <p:spPr>
          <a:xfrm>
            <a:off x="640080" y="3749040"/>
            <a:ext cx="5485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d6eeea"/>
                </a:solidFill>
                <a:latin typeface="Calibri"/>
              </a:rPr>
              <a:t>alter-macros · импортозамещение · ACell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640080" y="5040000"/>
            <a:ext cx="3319560" cy="11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ППУ-ХХХХХХ · </a:t>
            </a:r>
            <a:br>
              <a:rPr sz="1200"/>
            </a:b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Предприятие</a:t>
            </a:r>
            <a:br>
              <a:rPr sz="1200"/>
            </a:b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Автор 1</a:t>
            </a:r>
            <a:br>
              <a:rPr sz="1200"/>
            </a:b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Автор 2</a:t>
            </a:r>
            <a:br>
              <a:rPr sz="1200"/>
            </a:b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2026</a:t>
            </a:r>
            <a:endParaRPr b="0" lang="ru-RU" sz="1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6" name="TextBox 4"/>
          <p:cNvSpPr/>
          <p:nvPr/>
        </p:nvSpPr>
        <p:spPr>
          <a:xfrm>
            <a:off x="180000" y="1554480"/>
            <a:ext cx="594576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Excel → AlterOffice: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Миграция без переписывания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всего VBA макро-кода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548640" y="320040"/>
            <a:ext cx="6400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Проблема</a:t>
            </a:r>
            <a:endParaRPr b="0" lang="ru-RU" sz="2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548640" y="960120"/>
            <a:ext cx="899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5a6a78"/>
                </a:solidFill>
                <a:latin typeface="Calibri"/>
              </a:rPr>
              <a:t>Развернуть и начать использовать AlterOffice — необходимо (установка выполнена)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5a6a78"/>
                </a:solidFill>
                <a:latin typeface="Calibri"/>
              </a:rPr>
              <a:t>Сохранить автоматизацию (миграция макросов) — отдельная задача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540000" y="2272320"/>
            <a:ext cx="6400080" cy="20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Требование регулятора обеспечить суверенитет офисного ПО – необходимо работать в AlterOffice Acell вместо MS Excel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В MS Excel накоплен багаж кода автоматизации - макросы VBA и отчеты PowerQuery (сбор, чистка, оформление, аггрегация…)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При смене офисной платформы их нужно переписывать — отсутствие экспертизы в программировании на Python (в широком масштабе)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AlterOffice Acell не имеет встроенной альтернативы PowerQuery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1" name="TextBox 6"/>
          <p:cNvSpPr/>
          <p:nvPr/>
        </p:nvSpPr>
        <p:spPr>
          <a:xfrm>
            <a:off x="7498080" y="3108960"/>
            <a:ext cx="40226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assets/s02_vba_wall.png</a:t>
            </a:r>
            <a:endParaRPr b="0" lang="ru-RU" sz="1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2" name="TextBox 7"/>
          <p:cNvSpPr/>
          <p:nvPr/>
        </p:nvSpPr>
        <p:spPr>
          <a:xfrm>
            <a:off x="457200" y="64465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Alter-macros · Предприятие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3" name="TextBox 8"/>
          <p:cNvSpPr/>
          <p:nvPr/>
        </p:nvSpPr>
        <p:spPr>
          <a:xfrm>
            <a:off x="10515600" y="6446520"/>
            <a:ext cx="118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2 / 5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7020000" y="1800000"/>
            <a:ext cx="4821480" cy="35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548640" y="274320"/>
            <a:ext cx="10972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b3d5c"/>
                </a:solidFill>
                <a:latin typeface="Calibri"/>
              </a:rPr>
              <a:t>Killer feature: конвейер</a:t>
            </a:r>
            <a:r>
              <a:rPr b="1" lang="en-US" sz="2400" spc="-1" strike="noStrike">
                <a:solidFill>
                  <a:srgbClr val="0b3d5c"/>
                </a:solidFill>
                <a:latin typeface="Calibri"/>
              </a:rPr>
              <a:t> шагов вместо точечного VBA</a:t>
            </a:r>
            <a:endParaRPr b="0" lang="ru-RU" sz="2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7" name="Rounded Rectangle 3"/>
          <p:cNvSpPr/>
          <p:nvPr/>
        </p:nvSpPr>
        <p:spPr>
          <a:xfrm>
            <a:off x="534960" y="936720"/>
            <a:ext cx="11063520" cy="14032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777240" y="1051560"/>
            <a:ext cx="106063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Alter-macros закрывает типовой класс задач, ради которых писали VBA код и 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конструировали отчеты Power Query: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собрать книги → очистить → свести → агрегировать → оформить </a:t>
            </a:r>
            <a:br>
              <a:rPr sz="1400"/>
            </a:br>
            <a:endParaRPr b="0" lang="ru-RU" sz="1400" spc="-1" strike="noStrike">
              <a:solidFill>
                <a:srgbClr val="ffffff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Предлагается выполнять это с помошью декларативного конструирования шагов конвеера с помощью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Noto Sans CJK SC"/>
              </a:rPr>
              <a:t>параметров и графического визарда, без отдельного макроса на каждый кейс.</a:t>
            </a:r>
            <a:endParaRPr b="0" lang="ru-RU" sz="1400" spc="-1" strike="noStrike">
              <a:solidFill>
                <a:srgbClr val="ffffff"/>
              </a:solidFill>
              <a:latin typeface="PT Sans"/>
            </a:endParaRPr>
          </a:p>
        </p:txBody>
      </p:sp>
      <p:sp>
        <p:nvSpPr>
          <p:cNvPr id="59" name="TextBox 5"/>
          <p:cNvSpPr/>
          <p:nvPr/>
        </p:nvSpPr>
        <p:spPr>
          <a:xfrm>
            <a:off x="728640" y="2700000"/>
            <a:ext cx="4311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b3d5c"/>
                </a:solidFill>
                <a:latin typeface="Calibri"/>
              </a:rPr>
              <a:t>Что закрывает решение (часть VBA макрокода)</a:t>
            </a:r>
            <a:endParaRPr b="0" lang="ru-RU" sz="1400" spc="-1" strike="noStrike">
              <a:solidFill>
                <a:srgbClr val="0b3d5c"/>
              </a:solidFill>
              <a:latin typeface="PT Sans"/>
            </a:endParaRPr>
          </a:p>
        </p:txBody>
      </p:sp>
      <p:sp>
        <p:nvSpPr>
          <p:cNvPr id="60" name="TextBox 6"/>
          <p:cNvSpPr/>
          <p:nvPr/>
        </p:nvSpPr>
        <p:spPr>
          <a:xfrm>
            <a:off x="548640" y="2880360"/>
            <a:ext cx="5942880" cy="22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ru-RU" sz="1500" spc="-1" strike="noStrike">
                <a:solidFill>
                  <a:srgbClr val="1a1a1a"/>
                </a:solidFill>
                <a:latin typeface="Calibri"/>
              </a:rPr>
              <a:t>Сбор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из папки / многих файлов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Очистка, дубликаты, замена, столбцы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ВПР умный, сводная таблица, оформление, формулы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Разделение данных по произвольным правилам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Повторяемые сценарий с помощью листе параметров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1" name="Rounded Rectangle 7"/>
          <p:cNvSpPr/>
          <p:nvPr/>
        </p:nvSpPr>
        <p:spPr>
          <a:xfrm>
            <a:off x="6766920" y="2520000"/>
            <a:ext cx="4753080" cy="252000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8"/>
          <p:cNvSpPr/>
          <p:nvPr/>
        </p:nvSpPr>
        <p:spPr>
          <a:xfrm>
            <a:off x="6995160" y="2514960"/>
            <a:ext cx="3444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Честно</a:t>
            </a:r>
            <a:endParaRPr b="0" lang="ru-RU" sz="1400" spc="-1" strike="noStrike">
              <a:solidFill>
                <a:srgbClr val="ffffff"/>
              </a:solidFill>
              <a:latin typeface="PT Sans"/>
            </a:endParaRPr>
          </a:p>
        </p:txBody>
      </p:sp>
      <p:sp>
        <p:nvSpPr>
          <p:cNvPr id="63" name="TextBox 9"/>
          <p:cNvSpPr/>
          <p:nvPr/>
        </p:nvSpPr>
        <p:spPr>
          <a:xfrm>
            <a:off x="6995160" y="2880000"/>
            <a:ext cx="4164840" cy="14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•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Не закроет 100% всего VBA макрокода (~50-60%);</a:t>
            </a:r>
            <a:endParaRPr b="0" lang="ru-RU" sz="1400" spc="-1" strike="noStrike">
              <a:solidFill>
                <a:srgbClr val="ffffff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•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Некоторые кейсы обработки данных потребуют собственного кода Python (но встроенного в единый фреймфорк).</a:t>
            </a:r>
            <a:endParaRPr b="0" lang="ru-RU" sz="1400" spc="-1" strike="noStrike">
              <a:solidFill>
                <a:srgbClr val="ffffff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•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Ненулевой порог входа – потребуется обучение ключевых сотрудников на примерах  (далее они смогут распространять настройки конвеера и воспроизведение обработки необученными пользователями)</a:t>
            </a:r>
            <a:endParaRPr b="0" lang="ru-RU" sz="1400" spc="-1" strike="noStrike">
              <a:solidFill>
                <a:srgbClr val="ffffff"/>
              </a:solidFill>
              <a:latin typeface="PT Sans"/>
            </a:endParaRPr>
          </a:p>
        </p:txBody>
      </p:sp>
      <p:sp>
        <p:nvSpPr>
          <p:cNvPr id="64" name="Rounded Rectangle 10"/>
          <p:cNvSpPr/>
          <p:nvPr/>
        </p:nvSpPr>
        <p:spPr>
          <a:xfrm>
            <a:off x="548640" y="5212080"/>
            <a:ext cx="11063520" cy="91368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11"/>
          <p:cNvSpPr/>
          <p:nvPr/>
        </p:nvSpPr>
        <p:spPr>
          <a:xfrm>
            <a:off x="731520" y="5303520"/>
            <a:ext cx="106977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5a6a78"/>
                </a:solidFill>
                <a:latin typeface="Calibri"/>
              </a:rPr>
              <a:t>assets/s03_pipeline.png</a:t>
            </a:r>
            <a:endParaRPr b="0" lang="ru-RU" sz="1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6" name="TextBox 12"/>
          <p:cNvSpPr/>
          <p:nvPr/>
        </p:nvSpPr>
        <p:spPr>
          <a:xfrm>
            <a:off x="457200" y="64465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Alter-macros · Предприятие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7" name="TextBox 13"/>
          <p:cNvSpPr/>
          <p:nvPr/>
        </p:nvSpPr>
        <p:spPr>
          <a:xfrm>
            <a:off x="10515600" y="6446520"/>
            <a:ext cx="118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3 / 5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48640" y="27432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Как выглядит работа с помощью alter-macros</a:t>
            </a:r>
            <a:endParaRPr b="0" lang="ru-RU" sz="2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548640" y="822960"/>
            <a:ext cx="6400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5a6a78"/>
                </a:solidFill>
                <a:latin typeface="Calibri"/>
              </a:rPr>
              <a:t>Один сохранённый сценарий на листе параметров —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5a6a78"/>
                </a:solidFill>
                <a:latin typeface="Calibri"/>
              </a:rPr>
              <a:t>Повторяемый отчёт без «ручного ACell»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1" name="Rounded Rectangle 4"/>
          <p:cNvSpPr/>
          <p:nvPr/>
        </p:nvSpPr>
        <p:spPr>
          <a:xfrm>
            <a:off x="548640" y="1600200"/>
            <a:ext cx="456480" cy="45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548640" y="16459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1188720" y="167328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Определить источники данных (xlsx/ods/xml/csv)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4" name="Rounded Rectangle 7"/>
          <p:cNvSpPr/>
          <p:nvPr/>
        </p:nvSpPr>
        <p:spPr>
          <a:xfrm>
            <a:off x="548640" y="2240280"/>
            <a:ext cx="456480" cy="45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548640" y="228600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1188720" y="231336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Открыть/задать книгу(и) параметров работы макроса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7" name="Rounded Rectangle 10"/>
          <p:cNvSpPr/>
          <p:nvPr/>
        </p:nvSpPr>
        <p:spPr>
          <a:xfrm>
            <a:off x="548640" y="2880360"/>
            <a:ext cx="456480" cy="45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548640" y="292608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1188720" y="295344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Запуск макроса по отдельному листу параметров или по группе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0" name="Rounded Rectangle 13"/>
          <p:cNvSpPr/>
          <p:nvPr/>
        </p:nvSpPr>
        <p:spPr>
          <a:xfrm>
            <a:off x="548640" y="3520440"/>
            <a:ext cx="456480" cy="45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548640" y="356616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1188720" y="359352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Очистка и обогащение данных в конвеере постобработки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3" name="Rounded Rectangle 16"/>
          <p:cNvSpPr/>
          <p:nvPr/>
        </p:nvSpPr>
        <p:spPr>
          <a:xfrm>
            <a:off x="548640" y="4160520"/>
            <a:ext cx="456480" cy="45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548640" y="420624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1188720" y="423360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Сводная таблица/ формулы / «умный» ВПР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6" name="Rounded Rectangle 19"/>
          <p:cNvSpPr/>
          <p:nvPr/>
        </p:nvSpPr>
        <p:spPr>
          <a:xfrm>
            <a:off x="540000" y="5400000"/>
            <a:ext cx="456480" cy="45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540000" y="544572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1180080" y="547308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Что то идет не так – смотрим журнал логов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9" name="Rounded Rectangle 22"/>
          <p:cNvSpPr/>
          <p:nvPr/>
        </p:nvSpPr>
        <p:spPr>
          <a:xfrm>
            <a:off x="7132320" y="1600200"/>
            <a:ext cx="4479840" cy="32911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3"/>
          <p:cNvSpPr/>
          <p:nvPr/>
        </p:nvSpPr>
        <p:spPr>
          <a:xfrm>
            <a:off x="7360920" y="178308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a9b8e"/>
                </a:solidFill>
                <a:latin typeface="Calibri"/>
              </a:rPr>
              <a:t>Выгоды внедрения alter-macros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1" name="TextBox 24"/>
          <p:cNvSpPr/>
          <p:nvPr/>
        </p:nvSpPr>
        <p:spPr>
          <a:xfrm>
            <a:off x="7360920" y="2286000"/>
            <a:ext cx="4114080" cy="12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Один фреймворк с возможностью расширения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Визард на русском — декларативная настройка без привлечения программиста 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Совместимость AlterOffice, упрощенный инсталлятор, интеграция в основное и контекстное меню ACell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rcRect l="0" t="26998" r="7" b="26548"/>
          <a:stretch/>
        </p:blipFill>
        <p:spPr>
          <a:xfrm>
            <a:off x="7020360" y="5040000"/>
            <a:ext cx="4859640" cy="1259640"/>
          </a:xfrm>
          <a:prstGeom prst="rect">
            <a:avLst/>
          </a:prstGeom>
          <a:ln w="0">
            <a:noFill/>
          </a:ln>
        </p:spPr>
      </p:pic>
      <p:sp>
        <p:nvSpPr>
          <p:cNvPr id="93" name="TextBox 26"/>
          <p:cNvSpPr/>
          <p:nvPr/>
        </p:nvSpPr>
        <p:spPr>
          <a:xfrm>
            <a:off x="7315200" y="5189400"/>
            <a:ext cx="4114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4" name="TextBox 27"/>
          <p:cNvSpPr/>
          <p:nvPr/>
        </p:nvSpPr>
        <p:spPr>
          <a:xfrm>
            <a:off x="457200" y="64465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Предприятие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5" name="TextBox 28"/>
          <p:cNvSpPr/>
          <p:nvPr/>
        </p:nvSpPr>
        <p:spPr>
          <a:xfrm>
            <a:off x="10515600" y="6446520"/>
            <a:ext cx="118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4 / 5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6" name="Rounded Rectangle 1"/>
          <p:cNvSpPr/>
          <p:nvPr/>
        </p:nvSpPr>
        <p:spPr>
          <a:xfrm>
            <a:off x="540000" y="4763520"/>
            <a:ext cx="456480" cy="456480"/>
          </a:xfrm>
          <a:prstGeom prst="roundRect">
            <a:avLst>
              <a:gd name="adj" fmla="val 16667"/>
            </a:avLst>
          </a:prstGeom>
          <a:solidFill>
            <a:srgbClr val="0b3d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"/>
          <p:cNvSpPr/>
          <p:nvPr/>
        </p:nvSpPr>
        <p:spPr>
          <a:xfrm>
            <a:off x="540000" y="4809240"/>
            <a:ext cx="45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8" name="TextBox 16"/>
          <p:cNvSpPr/>
          <p:nvPr/>
        </p:nvSpPr>
        <p:spPr>
          <a:xfrm>
            <a:off x="1180080" y="483660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Можно разделить данные по произвольным правилам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48640" y="320040"/>
            <a:ext cx="10972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Что предлагаем</a:t>
            </a:r>
            <a:endParaRPr b="0" lang="ru-RU" sz="2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1" name="Rounded Rectangle 3"/>
          <p:cNvSpPr/>
          <p:nvPr/>
        </p:nvSpPr>
        <p:spPr>
          <a:xfrm>
            <a:off x="548640" y="1051560"/>
            <a:ext cx="11063520" cy="8222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777240" y="1188720"/>
            <a:ext cx="639360" cy="5479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777240" y="1280160"/>
            <a:ext cx="639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1645920" y="1280160"/>
            <a:ext cx="9600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Стек: AlterOffice + libre-macros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5" name="Rounded Rectangle 7"/>
          <p:cNvSpPr/>
          <p:nvPr/>
        </p:nvSpPr>
        <p:spPr>
          <a:xfrm>
            <a:off x="548640" y="2011680"/>
            <a:ext cx="11063520" cy="8222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ounded Rectangle 8"/>
          <p:cNvSpPr/>
          <p:nvPr/>
        </p:nvSpPr>
        <p:spPr>
          <a:xfrm>
            <a:off x="777240" y="2148840"/>
            <a:ext cx="639360" cy="5479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777240" y="2240280"/>
            <a:ext cx="639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1645920" y="2240280"/>
            <a:ext cx="9600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Инвентаризация VBA: отчёты «сбор/очистка/свод» → пилот на libre-macros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9" name="Rounded Rectangle 11"/>
          <p:cNvSpPr/>
          <p:nvPr/>
        </p:nvSpPr>
        <p:spPr>
          <a:xfrm>
            <a:off x="548640" y="2971800"/>
            <a:ext cx="11063520" cy="8222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ounded Rectangle 12"/>
          <p:cNvSpPr/>
          <p:nvPr/>
        </p:nvSpPr>
        <p:spPr>
          <a:xfrm>
            <a:off x="777240" y="3108960"/>
            <a:ext cx="639360" cy="5479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777240" y="3200400"/>
            <a:ext cx="639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2" name="TextBox 14"/>
          <p:cNvSpPr/>
          <p:nvPr/>
        </p:nvSpPr>
        <p:spPr>
          <a:xfrm>
            <a:off x="1645920" y="3200400"/>
            <a:ext cx="9600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Остальное — roadmap / точечная разработка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3" name="Rounded Rectangle 15"/>
          <p:cNvSpPr/>
          <p:nvPr/>
        </p:nvSpPr>
        <p:spPr>
          <a:xfrm>
            <a:off x="548640" y="3931920"/>
            <a:ext cx="11063520" cy="8222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ounded Rectangle 16"/>
          <p:cNvSpPr/>
          <p:nvPr/>
        </p:nvSpPr>
        <p:spPr>
          <a:xfrm>
            <a:off x="777240" y="4069080"/>
            <a:ext cx="639360" cy="547920"/>
          </a:xfrm>
          <a:prstGeom prst="roundRect">
            <a:avLst>
              <a:gd name="adj" fmla="val 16667"/>
            </a:avLst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17"/>
          <p:cNvSpPr/>
          <p:nvPr/>
        </p:nvSpPr>
        <p:spPr>
          <a:xfrm>
            <a:off x="777240" y="4160520"/>
            <a:ext cx="639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6" name="TextBox 18"/>
          <p:cNvSpPr/>
          <p:nvPr/>
        </p:nvSpPr>
        <p:spPr>
          <a:xfrm>
            <a:off x="1645920" y="4160520"/>
            <a:ext cx="9600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Решение: пилот 1–2 отчёта, владелец книги параметров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7" name="TextBox 19"/>
          <p:cNvSpPr/>
          <p:nvPr/>
        </p:nvSpPr>
        <p:spPr>
          <a:xfrm>
            <a:off x="548640" y="512064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5a6a78"/>
                </a:solidFill>
                <a:latin typeface="Calibri"/>
              </a:rPr>
              <a:t>Вопросы · демо · docs/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5a6a78"/>
                </a:solidFill>
                <a:latin typeface="Calibri"/>
              </a:rPr>
              <a:t>Предприятие · 2026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8" name="TextBox 20"/>
          <p:cNvSpPr/>
          <p:nvPr/>
        </p:nvSpPr>
        <p:spPr>
          <a:xfrm>
            <a:off x="457200" y="64465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libre-macros · Предприятие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9" name="TextBox 21"/>
          <p:cNvSpPr/>
          <p:nvPr/>
        </p:nvSpPr>
        <p:spPr>
          <a:xfrm>
            <a:off x="10515600" y="6446520"/>
            <a:ext cx="118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1000" spc="-1" strike="noStrike">
                <a:solidFill>
                  <a:srgbClr val="5a6a78"/>
                </a:solidFill>
                <a:latin typeface="Calibri"/>
              </a:rPr>
              <a:t>5 / 5</a:t>
            </a:r>
            <a:endParaRPr b="0" lang="ru-RU" sz="10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Application>AlterOffice/2026.2.0.0$Linux_X86_64 LibreOffice_project/bc4ef1adf80b36c7a6365f8ed6cbf29021361edd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>su</cp:lastModifiedBy>
  <dcterms:modified xsi:type="dcterms:W3CDTF">2026-08-06T14:23:08Z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