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78C3FD-88C1-4737-8A9B-7B1C85072B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F121E6-EB43-4E74-A127-5728FD7193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640263-1889-4D50-88C7-D3B4156341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02CF052-88CA-41D7-AD98-E58AFF11E0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769B89-D280-491E-BDDA-BE1C56C00D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FC7686-0F59-46C5-BB67-16FF163E61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265068B-B463-4C3B-9E04-1F85B1F0B5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3C275A-4E9C-4C14-8CAD-FC93A33AC2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0969BA-E444-435F-BD48-8EE4B29B45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0F11FF-0C49-4F48-986A-37D4D890C5B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FB6E7ED-6360-46D7-A313-425D5056DDC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0A8C68-1434-443C-99EC-EC9F4AE8A1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9D22CE-EA72-41DF-B05B-656610472B6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PT Sans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PT Sans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PT Sans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PT Sans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PT Sans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PT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PT Sans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PT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PT Sans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" name="Rectangle 2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594360" y="320040"/>
            <a:ext cx="10972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Простой импорт произвольного XML в ACell затруднён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594360" y="914400"/>
            <a:ext cx="10972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5a6a78"/>
                </a:solidFill>
                <a:latin typeface="Calibri"/>
              </a:rPr>
              <a:t>В MS Excel XML файл можно просто открыть, как плоскую таблицу. </a:t>
            </a:r>
            <a:br>
              <a:rPr sz="1500"/>
            </a:br>
            <a:r>
              <a:rPr b="0" lang="en-US" sz="1500" spc="-1" strike="noStrike">
                <a:solidFill>
                  <a:srgbClr val="5a6a78"/>
                </a:solidFill>
                <a:latin typeface="Calibri"/>
              </a:rPr>
              <a:t>В ACell встроенный импорт требует XML-схему (XSD) и настройки сопоставления структуры с ячейками листа Acell.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5" name="Rounded Rectangle 5"/>
          <p:cNvSpPr/>
          <p:nvPr/>
        </p:nvSpPr>
        <p:spPr>
          <a:xfrm>
            <a:off x="594360" y="1783080"/>
            <a:ext cx="5348520" cy="33368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6263640" y="1783080"/>
            <a:ext cx="5348520" cy="333684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822960" y="1965960"/>
            <a:ext cx="4845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1a9b8e"/>
                </a:solidFill>
                <a:latin typeface="Calibri"/>
              </a:rPr>
              <a:t>MS Excel</a:t>
            </a:r>
            <a:endParaRPr b="0" lang="ru-RU" sz="19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8" name="TextBox 8"/>
          <p:cNvSpPr/>
          <p:nvPr/>
        </p:nvSpPr>
        <p:spPr>
          <a:xfrm>
            <a:off x="6492240" y="1965960"/>
            <a:ext cx="48456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900" spc="-1" strike="noStrike">
                <a:solidFill>
                  <a:srgbClr val="0b3d5c"/>
                </a:solidFill>
                <a:latin typeface="Calibri"/>
              </a:rPr>
              <a:t>AlterOffice ACell</a:t>
            </a:r>
            <a:endParaRPr b="0" lang="ru-RU" sz="19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49" name="Rounded Rectangle 9"/>
          <p:cNvSpPr/>
          <p:nvPr/>
        </p:nvSpPr>
        <p:spPr>
          <a:xfrm>
            <a:off x="822960" y="2587680"/>
            <a:ext cx="114228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" name="TextBox 10"/>
          <p:cNvSpPr/>
          <p:nvPr/>
        </p:nvSpPr>
        <p:spPr>
          <a:xfrm>
            <a:off x="896040" y="2770560"/>
            <a:ext cx="996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0b3d5c"/>
                </a:solidFill>
                <a:latin typeface="Calibri"/>
              </a:rPr>
              <a:t>XML-файл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1" name="TextBox 11"/>
          <p:cNvSpPr/>
          <p:nvPr/>
        </p:nvSpPr>
        <p:spPr>
          <a:xfrm>
            <a:off x="1939680" y="28162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7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27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2" name="Rounded Rectangle 12"/>
          <p:cNvSpPr/>
          <p:nvPr/>
        </p:nvSpPr>
        <p:spPr>
          <a:xfrm>
            <a:off x="2423160" y="2587680"/>
            <a:ext cx="150804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TextBox 13"/>
          <p:cNvSpPr/>
          <p:nvPr/>
        </p:nvSpPr>
        <p:spPr>
          <a:xfrm>
            <a:off x="2496240" y="2770560"/>
            <a:ext cx="13618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0b3d5c"/>
                </a:solidFill>
                <a:latin typeface="Calibri"/>
              </a:rPr>
              <a:t>Открыть / импорт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4" name="TextBox 14"/>
          <p:cNvSpPr/>
          <p:nvPr/>
        </p:nvSpPr>
        <p:spPr>
          <a:xfrm>
            <a:off x="3924000" y="2816280"/>
            <a:ext cx="365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7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27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55" name="Rounded Rectangle 15"/>
          <p:cNvSpPr/>
          <p:nvPr/>
        </p:nvSpPr>
        <p:spPr>
          <a:xfrm>
            <a:off x="4389120" y="2587680"/>
            <a:ext cx="127944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6" name="Rectangle 16"/>
          <p:cNvSpPr/>
          <p:nvPr/>
        </p:nvSpPr>
        <p:spPr>
          <a:xfrm>
            <a:off x="4645080" y="2697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Rectangle 17"/>
          <p:cNvSpPr/>
          <p:nvPr/>
        </p:nvSpPr>
        <p:spPr>
          <a:xfrm>
            <a:off x="4901040" y="2697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Rectangle 18"/>
          <p:cNvSpPr/>
          <p:nvPr/>
        </p:nvSpPr>
        <p:spPr>
          <a:xfrm>
            <a:off x="5157360" y="2697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Rectangle 19"/>
          <p:cNvSpPr/>
          <p:nvPr/>
        </p:nvSpPr>
        <p:spPr>
          <a:xfrm>
            <a:off x="4645080" y="2886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0" name="Rectangle 20"/>
          <p:cNvSpPr/>
          <p:nvPr/>
        </p:nvSpPr>
        <p:spPr>
          <a:xfrm>
            <a:off x="4901040" y="2886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Rectangle 21"/>
          <p:cNvSpPr/>
          <p:nvPr/>
        </p:nvSpPr>
        <p:spPr>
          <a:xfrm>
            <a:off x="5157360" y="2886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Rectangle 22"/>
          <p:cNvSpPr/>
          <p:nvPr/>
        </p:nvSpPr>
        <p:spPr>
          <a:xfrm>
            <a:off x="4645080" y="3075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ectangle 23"/>
          <p:cNvSpPr/>
          <p:nvPr/>
        </p:nvSpPr>
        <p:spPr>
          <a:xfrm>
            <a:off x="4901040" y="3075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Rectangle 24"/>
          <p:cNvSpPr/>
          <p:nvPr/>
        </p:nvSpPr>
        <p:spPr>
          <a:xfrm>
            <a:off x="5157360" y="3075480"/>
            <a:ext cx="25524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25"/>
          <p:cNvSpPr/>
          <p:nvPr/>
        </p:nvSpPr>
        <p:spPr>
          <a:xfrm>
            <a:off x="4434840" y="3337560"/>
            <a:ext cx="118800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0b3d5c"/>
                </a:solidFill>
                <a:latin typeface="Calibri"/>
              </a:rPr>
              <a:t>Таблица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6" name="TextBox 26"/>
          <p:cNvSpPr/>
          <p:nvPr/>
        </p:nvSpPr>
        <p:spPr>
          <a:xfrm>
            <a:off x="822960" y="4087440"/>
            <a:ext cx="4845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XML-файл открывается в MS Excel в виде табличных данных.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7" name="Rounded Rectangle 27"/>
          <p:cNvSpPr/>
          <p:nvPr/>
        </p:nvSpPr>
        <p:spPr>
          <a:xfrm>
            <a:off x="6492240" y="2587680"/>
            <a:ext cx="114228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8"/>
          <p:cNvSpPr/>
          <p:nvPr/>
        </p:nvSpPr>
        <p:spPr>
          <a:xfrm>
            <a:off x="6565320" y="2770560"/>
            <a:ext cx="9961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0b3d5c"/>
                </a:solidFill>
                <a:latin typeface="Calibri"/>
              </a:rPr>
              <a:t>XML-файл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69" name="TextBox 29"/>
          <p:cNvSpPr/>
          <p:nvPr/>
        </p:nvSpPr>
        <p:spPr>
          <a:xfrm>
            <a:off x="7608960" y="28162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700" spc="-1" strike="noStrike">
                <a:solidFill>
                  <a:srgbClr val="c04a3a"/>
                </a:solidFill>
                <a:latin typeface="Calibri"/>
              </a:rPr>
              <a:t>→</a:t>
            </a:r>
            <a:endParaRPr b="0" lang="ru-RU" sz="27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0" name="Rounded Rectangle 30"/>
          <p:cNvSpPr/>
          <p:nvPr/>
        </p:nvSpPr>
        <p:spPr>
          <a:xfrm>
            <a:off x="8092440" y="2587680"/>
            <a:ext cx="164520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31"/>
          <p:cNvSpPr/>
          <p:nvPr/>
        </p:nvSpPr>
        <p:spPr>
          <a:xfrm>
            <a:off x="8165520" y="2770560"/>
            <a:ext cx="14990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600" spc="-1" strike="noStrike">
                <a:solidFill>
                  <a:srgbClr val="0b3d5c"/>
                </a:solidFill>
                <a:latin typeface="Calibri"/>
              </a:rPr>
              <a:t>XSD + настройка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2" name="TextBox 32"/>
          <p:cNvSpPr/>
          <p:nvPr/>
        </p:nvSpPr>
        <p:spPr>
          <a:xfrm>
            <a:off x="9730440" y="2816280"/>
            <a:ext cx="3650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700" spc="-1" strike="noStrike">
                <a:solidFill>
                  <a:srgbClr val="c04a3a"/>
                </a:solidFill>
                <a:latin typeface="Calibri"/>
              </a:rPr>
              <a:t>→</a:t>
            </a:r>
            <a:endParaRPr b="0" lang="ru-RU" sz="27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73" name="Rounded Rectangle 33"/>
          <p:cNvSpPr/>
          <p:nvPr/>
        </p:nvSpPr>
        <p:spPr>
          <a:xfrm>
            <a:off x="10195560" y="2587680"/>
            <a:ext cx="1142280" cy="118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Rectangle 34"/>
          <p:cNvSpPr/>
          <p:nvPr/>
        </p:nvSpPr>
        <p:spPr>
          <a:xfrm>
            <a:off x="10424160" y="2697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35"/>
          <p:cNvSpPr/>
          <p:nvPr/>
        </p:nvSpPr>
        <p:spPr>
          <a:xfrm>
            <a:off x="10652760" y="2697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Rectangle 36"/>
          <p:cNvSpPr/>
          <p:nvPr/>
        </p:nvSpPr>
        <p:spPr>
          <a:xfrm>
            <a:off x="10881360" y="2697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37"/>
          <p:cNvSpPr/>
          <p:nvPr/>
        </p:nvSpPr>
        <p:spPr>
          <a:xfrm>
            <a:off x="10424160" y="2886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38"/>
          <p:cNvSpPr/>
          <p:nvPr/>
        </p:nvSpPr>
        <p:spPr>
          <a:xfrm>
            <a:off x="10652760" y="2886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39"/>
          <p:cNvSpPr/>
          <p:nvPr/>
        </p:nvSpPr>
        <p:spPr>
          <a:xfrm>
            <a:off x="10881360" y="2886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Rectangle 40"/>
          <p:cNvSpPr/>
          <p:nvPr/>
        </p:nvSpPr>
        <p:spPr>
          <a:xfrm>
            <a:off x="10424160" y="3075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41"/>
          <p:cNvSpPr/>
          <p:nvPr/>
        </p:nvSpPr>
        <p:spPr>
          <a:xfrm>
            <a:off x="10652760" y="3075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42"/>
          <p:cNvSpPr/>
          <p:nvPr/>
        </p:nvSpPr>
        <p:spPr>
          <a:xfrm>
            <a:off x="10881360" y="3075480"/>
            <a:ext cx="227880" cy="1882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43"/>
          <p:cNvSpPr/>
          <p:nvPr/>
        </p:nvSpPr>
        <p:spPr>
          <a:xfrm>
            <a:off x="10241280" y="3337560"/>
            <a:ext cx="1050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0b3d5c"/>
                </a:solidFill>
                <a:latin typeface="Calibri"/>
              </a:rPr>
              <a:t>Лист ACell</a:t>
            </a:r>
            <a:endParaRPr b="0" lang="ru-RU" sz="13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4" name="TextBox 44"/>
          <p:cNvSpPr/>
          <p:nvPr/>
        </p:nvSpPr>
        <p:spPr>
          <a:xfrm>
            <a:off x="6492240" y="4087440"/>
            <a:ext cx="48456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1a1a1a"/>
                </a:solidFill>
                <a:latin typeface="Calibri"/>
              </a:rPr>
              <a:t>Нужны схема данных и настройка импорта XML на лист Acell.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5" name="Rounded Rectangle 45"/>
          <p:cNvSpPr/>
          <p:nvPr/>
        </p:nvSpPr>
        <p:spPr>
          <a:xfrm>
            <a:off x="594360" y="5349240"/>
            <a:ext cx="11017800" cy="65772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46"/>
          <p:cNvSpPr/>
          <p:nvPr/>
        </p:nvSpPr>
        <p:spPr>
          <a:xfrm>
            <a:off x="868680" y="5486400"/>
            <a:ext cx="10469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b3d5c"/>
                </a:solidFill>
                <a:latin typeface="Calibri"/>
              </a:rPr>
              <a:t>Если готового файла XSD нет, импорт данных в табличный вид становится отдельной технической задачей.</a:t>
            </a:r>
            <a:endParaRPr b="0" lang="ru-RU" sz="1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7" name="TextBox 47"/>
          <p:cNvSpPr/>
          <p:nvPr/>
        </p:nvSpPr>
        <p:spPr>
          <a:xfrm>
            <a:off x="594360" y="6382440"/>
            <a:ext cx="8686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a6a78"/>
                </a:solidFill>
                <a:latin typeface="Calibri"/>
              </a:rPr>
              <a:t>Импорт XML в AlterOffice ACell · Предприятие · 2026</a:t>
            </a:r>
            <a:endParaRPr b="0" lang="ru-RU" sz="9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88" name="TextBox 48"/>
          <p:cNvSpPr/>
          <p:nvPr/>
        </p:nvSpPr>
        <p:spPr>
          <a:xfrm>
            <a:off x="10515600" y="638244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a6a78"/>
                </a:solidFill>
                <a:latin typeface="Calibri"/>
              </a:rPr>
              <a:t>1 / 2</a:t>
            </a:r>
            <a:endParaRPr b="0" lang="ru-RU" sz="9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0" y="0"/>
            <a:ext cx="109080" cy="6857280"/>
          </a:xfrm>
          <a:prstGeom prst="rect">
            <a:avLst/>
          </a:prstGeom>
          <a:solidFill>
            <a:srgbClr val="1a9b8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594360" y="320040"/>
            <a:ext cx="10972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b3d5c"/>
                </a:solidFill>
                <a:latin typeface="Calibri"/>
              </a:rPr>
              <a:t>Предлагаемое решение: Python-макрос для ACell</a:t>
            </a:r>
            <a:endParaRPr b="0" lang="ru-RU" sz="26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2" name="Rounded Rectangle 4"/>
          <p:cNvSpPr/>
          <p:nvPr/>
        </p:nvSpPr>
        <p:spPr>
          <a:xfrm>
            <a:off x="594360" y="960120"/>
            <a:ext cx="11017800" cy="65772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868680" y="1006920"/>
            <a:ext cx="1046916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0b3d5c"/>
                </a:solidFill>
                <a:latin typeface="Calibri"/>
              </a:rPr>
              <a:t>Обращение к разработчикам ACell через КОИТ направлено: штатная функция не реализована (возможность и сроки неизвестны).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4" name="Rounded Rectangle 6"/>
          <p:cNvSpPr/>
          <p:nvPr/>
        </p:nvSpPr>
        <p:spPr>
          <a:xfrm>
            <a:off x="731520" y="2011680"/>
            <a:ext cx="3062520" cy="25138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5" name="Rounded Rectangle 7"/>
          <p:cNvSpPr/>
          <p:nvPr/>
        </p:nvSpPr>
        <p:spPr>
          <a:xfrm>
            <a:off x="4572000" y="2011680"/>
            <a:ext cx="3062520" cy="25138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8412480" y="2011680"/>
            <a:ext cx="3062520" cy="251388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ounded Rectangle 9"/>
          <p:cNvSpPr/>
          <p:nvPr/>
        </p:nvSpPr>
        <p:spPr>
          <a:xfrm>
            <a:off x="1755720" y="2240280"/>
            <a:ext cx="1005120" cy="74916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1801440" y="235908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1a9b8e"/>
                </a:solidFill>
                <a:latin typeface="Calibri"/>
              </a:rPr>
              <a:t>XML</a:t>
            </a:r>
            <a:endParaRPr b="0" lang="ru-RU" sz="2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914400" y="3154680"/>
            <a:ext cx="2696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b3d5c"/>
                </a:solidFill>
                <a:latin typeface="Calibri"/>
              </a:rPr>
              <a:t>Произвольный XML-файл</a:t>
            </a:r>
            <a:endParaRPr b="0" lang="ru-RU" sz="18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0" name="TextBox 12"/>
          <p:cNvSpPr/>
          <p:nvPr/>
        </p:nvSpPr>
        <p:spPr>
          <a:xfrm>
            <a:off x="1005840" y="3817440"/>
            <a:ext cx="2513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5a6a78"/>
                </a:solidFill>
                <a:latin typeface="Calibri"/>
              </a:rPr>
              <a:t>Источник данных для импорта на лист ACell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1" name="Rounded Rectangle 13"/>
          <p:cNvSpPr/>
          <p:nvPr/>
        </p:nvSpPr>
        <p:spPr>
          <a:xfrm>
            <a:off x="5596200" y="2240280"/>
            <a:ext cx="1005120" cy="74916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5641920" y="2340720"/>
            <a:ext cx="913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400" spc="-1" strike="noStrike">
                <a:solidFill>
                  <a:srgbClr val="1a9b8e"/>
                </a:solidFill>
                <a:latin typeface="Calibri"/>
              </a:rPr>
              <a:t>PY</a:t>
            </a:r>
            <a:endParaRPr b="0" lang="ru-RU" sz="2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3" name="TextBox 15"/>
          <p:cNvSpPr/>
          <p:nvPr/>
        </p:nvSpPr>
        <p:spPr>
          <a:xfrm>
            <a:off x="4754880" y="3154680"/>
            <a:ext cx="2696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b3d5c"/>
                </a:solidFill>
                <a:latin typeface="Calibri"/>
              </a:rPr>
              <a:t>Python-макрос</a:t>
            </a:r>
            <a:endParaRPr b="0" lang="ru-RU" sz="18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4" name="TextBox 16"/>
          <p:cNvSpPr/>
          <p:nvPr/>
        </p:nvSpPr>
        <p:spPr>
          <a:xfrm>
            <a:off x="4838040" y="3575520"/>
            <a:ext cx="2513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5a6a78"/>
                </a:solidFill>
                <a:latin typeface="Calibri"/>
              </a:rPr>
              <a:t>Загружает данные xml на лист Acell (параметры через графический визард)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05" name="Rectangle 17"/>
          <p:cNvSpPr/>
          <p:nvPr/>
        </p:nvSpPr>
        <p:spPr>
          <a:xfrm>
            <a:off x="9372600" y="22219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Rectangle 18"/>
          <p:cNvSpPr/>
          <p:nvPr/>
        </p:nvSpPr>
        <p:spPr>
          <a:xfrm>
            <a:off x="9753480" y="22219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Rectangle 19"/>
          <p:cNvSpPr/>
          <p:nvPr/>
        </p:nvSpPr>
        <p:spPr>
          <a:xfrm>
            <a:off x="10134720" y="22219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ectangle 20"/>
          <p:cNvSpPr/>
          <p:nvPr/>
        </p:nvSpPr>
        <p:spPr>
          <a:xfrm>
            <a:off x="9372600" y="24901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Rectangle 21"/>
          <p:cNvSpPr/>
          <p:nvPr/>
        </p:nvSpPr>
        <p:spPr>
          <a:xfrm>
            <a:off x="9753480" y="24901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ectangle 22"/>
          <p:cNvSpPr/>
          <p:nvPr/>
        </p:nvSpPr>
        <p:spPr>
          <a:xfrm>
            <a:off x="10134720" y="24901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Rectangle 23"/>
          <p:cNvSpPr/>
          <p:nvPr/>
        </p:nvSpPr>
        <p:spPr>
          <a:xfrm>
            <a:off x="9372600" y="27583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24"/>
          <p:cNvSpPr/>
          <p:nvPr/>
        </p:nvSpPr>
        <p:spPr>
          <a:xfrm>
            <a:off x="9753480" y="27583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25"/>
          <p:cNvSpPr/>
          <p:nvPr/>
        </p:nvSpPr>
        <p:spPr>
          <a:xfrm>
            <a:off x="10134720" y="2758320"/>
            <a:ext cx="380160" cy="267480"/>
          </a:xfrm>
          <a:prstGeom prst="rect">
            <a:avLst/>
          </a:prstGeom>
          <a:solidFill>
            <a:srgbClr val="ffffff"/>
          </a:solidFill>
          <a:ln>
            <a:solidFill>
              <a:srgbClr val="1a9b8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6"/>
          <p:cNvSpPr/>
          <p:nvPr/>
        </p:nvSpPr>
        <p:spPr>
          <a:xfrm>
            <a:off x="8595360" y="3154680"/>
            <a:ext cx="26967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b3d5c"/>
                </a:solidFill>
                <a:latin typeface="Calibri"/>
              </a:rPr>
              <a:t>Лист ACell</a:t>
            </a:r>
            <a:endParaRPr b="0" lang="ru-RU" sz="18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5" name="TextBox 27"/>
          <p:cNvSpPr/>
          <p:nvPr/>
        </p:nvSpPr>
        <p:spPr>
          <a:xfrm>
            <a:off x="8678520" y="3567240"/>
            <a:ext cx="25138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400" spc="-1" strike="noStrike">
                <a:solidFill>
                  <a:srgbClr val="5a6a78"/>
                </a:solidFill>
                <a:latin typeface="Calibri"/>
              </a:rPr>
              <a:t>XML-данные на листе в виде обычной таблицы ( с указанного в параметрах узла XML)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6" name="TextBox 28"/>
          <p:cNvSpPr/>
          <p:nvPr/>
        </p:nvSpPr>
        <p:spPr>
          <a:xfrm>
            <a:off x="3858840" y="2880360"/>
            <a:ext cx="502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7" name="TextBox 29"/>
          <p:cNvSpPr/>
          <p:nvPr/>
        </p:nvSpPr>
        <p:spPr>
          <a:xfrm>
            <a:off x="7699320" y="2880360"/>
            <a:ext cx="5022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1a9b8e"/>
                </a:solidFill>
                <a:latin typeface="Calibri"/>
              </a:rPr>
              <a:t>→</a:t>
            </a:r>
            <a:endParaRPr b="0" lang="ru-RU" sz="32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18" name="Rounded Rectangle 30"/>
          <p:cNvSpPr/>
          <p:nvPr/>
        </p:nvSpPr>
        <p:spPr>
          <a:xfrm>
            <a:off x="594360" y="4983480"/>
            <a:ext cx="11017800" cy="959400"/>
          </a:xfrm>
          <a:prstGeom prst="roundRect">
            <a:avLst>
              <a:gd name="adj" fmla="val 16667"/>
            </a:avLst>
          </a:prstGeom>
          <a:solidFill>
            <a:srgbClr val="d6eee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31"/>
          <p:cNvSpPr/>
          <p:nvPr/>
        </p:nvSpPr>
        <p:spPr>
          <a:xfrm>
            <a:off x="868680" y="5093280"/>
            <a:ext cx="104691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a9b8e"/>
                </a:solidFill>
                <a:latin typeface="Calibri"/>
              </a:rPr>
              <a:t>Результат</a:t>
            </a:r>
            <a:endParaRPr b="0" lang="ru-RU" sz="14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20" name="TextBox 32"/>
          <p:cNvSpPr/>
          <p:nvPr/>
        </p:nvSpPr>
        <p:spPr>
          <a:xfrm>
            <a:off x="868680" y="5403960"/>
            <a:ext cx="104691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b3d5c"/>
                </a:solidFill>
                <a:latin typeface="Calibri"/>
              </a:rPr>
              <a:t>Произвольные XML-данные — преобразованы и выгружены на листе Acell.</a:t>
            </a:r>
            <a:endParaRPr b="0" lang="ru-RU" sz="15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21" name="TextBox 33"/>
          <p:cNvSpPr/>
          <p:nvPr/>
        </p:nvSpPr>
        <p:spPr>
          <a:xfrm>
            <a:off x="594360" y="6382440"/>
            <a:ext cx="8686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900" spc="-1" strike="noStrike">
                <a:solidFill>
                  <a:srgbClr val="5a6a78"/>
                </a:solidFill>
                <a:latin typeface="Calibri"/>
              </a:rPr>
              <a:t>Импорт XML в AlterOffice ACell · Предприятие · 2026</a:t>
            </a:r>
            <a:endParaRPr b="0" lang="ru-RU" sz="900" spc="-1" strike="noStrike">
              <a:solidFill>
                <a:srgbClr val="000000"/>
              </a:solidFill>
              <a:latin typeface="PT Sans"/>
            </a:endParaRPr>
          </a:p>
        </p:txBody>
      </p:sp>
      <p:sp>
        <p:nvSpPr>
          <p:cNvPr id="122" name="TextBox 34"/>
          <p:cNvSpPr/>
          <p:nvPr/>
        </p:nvSpPr>
        <p:spPr>
          <a:xfrm>
            <a:off x="10515600" y="6382440"/>
            <a:ext cx="11880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en-US" sz="900" spc="-1" strike="noStrike">
                <a:solidFill>
                  <a:srgbClr val="5a6a78"/>
                </a:solidFill>
                <a:latin typeface="Calibri"/>
              </a:rPr>
              <a:t>2 / 2</a:t>
            </a:r>
            <a:endParaRPr b="0" lang="ru-RU" sz="900" spc="-1" strike="noStrike">
              <a:solidFill>
                <a:srgbClr val="000000"/>
              </a:solidFill>
              <a:latin typeface="PT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AlterOffice/2026.2.0.0$Linux_X86_64 LibreOffice_project/bc4ef1adf80b36c7a6365f8ed6cbf29021361edd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>su</cp:lastModifiedBy>
  <dcterms:modified xsi:type="dcterms:W3CDTF">2026-10-27T16:42:37Z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