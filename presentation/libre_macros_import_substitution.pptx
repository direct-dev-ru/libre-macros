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0" y="0"/>
            <a:ext cx="5973775" cy="68580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3063240"/>
            <a:ext cx="560801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assets/01_title_hero.png
(промпт в STORYBOARD)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От Excel к AlterOffice:
автоматизация отчётов
без потери процессов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D6EEEA"/>
                </a:solidFill>
                <a:latin typeface="Calibri"/>
              </a:rPr>
              <a:t>Пакет макросов libre-macros
импортозамещение · Calc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A6A78"/>
                </a:solidFill>
                <a:latin typeface="Calibri"/>
              </a:rPr>
              <a:t>Для руководства · Предприятие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D5C"/>
                </a:solidFill>
                <a:latin typeface="Calibri"/>
              </a:rPr>
              <a:t>О чём поговорим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640080" cy="64008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Зачем уходить с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20"/>
            <a:ext cx="640080" cy="64008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4248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Что остаётся болевой точкой после установки AlterOffice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640080" cy="64008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889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Решение: AlterOffice + libre-macros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640080" cy="64008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38728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66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Возможности и типовые сценарии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640080" cy="64008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15968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43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Внедрение, риски, пилот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640080" cy="64008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93208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20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Решение к принятию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Импортозамещение офисного контура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400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A6A78"/>
                </a:solidFill>
                <a:latin typeface="Calibri"/>
              </a:rPr>
              <a:t>Переход на AlterOffice закрывает лицензии и суверенитет ПО, но не закрывает привычные Excel-процессы сам по себе.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Лицензии Microsoft 365 / Office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Power Query, VBA, «сводные как привыкли»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Сотни книг-источников у подразделений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Риск: «поставили Calc — отчёты собираем руками»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4389120" cy="45720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0" y="310896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assets/03_risk_gap.png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Как сейчас (типичный Excel-контур)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Сбор из папки / почты / сетевого диска вручную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Power Query или «скопировать → вставить»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VBA / макросы, привязанные к Excel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Разные версии книг → разные ошибки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Ключевые знания у 1–2 сотрудников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188720"/>
            <a:ext cx="4389120" cy="45720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310896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assets/04_excel_chaos.png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Решение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64240" cy="14630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D5C"/>
                </a:solidFill>
                <a:latin typeface="Calibri"/>
              </a:rPr>
              <a:t>AlterOffice Calc + libre-macros = воспроизводимый конвейер
«собрать → очистить → свести → оформить» без Microsoft Excel и без Power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474720" cy="18288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9B8E"/>
                </a:solidFill>
                <a:latin typeface="Calibri"/>
              </a:rPr>
              <a:t>1. Сбор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Книги, листы, CSV/XML,
маски, «эта книга»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743200"/>
            <a:ext cx="3474720" cy="18288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8803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9B8E"/>
                </a:solidFill>
                <a:latin typeface="Calibri"/>
              </a:rPr>
              <a:t>2. Постобработка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383280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Очистка, форма таблицы,
формулы, оформление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2743200"/>
            <a:ext cx="3474720" cy="18288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8" y="28803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9B8E"/>
                </a:solidFill>
                <a:latin typeface="Calibri"/>
              </a:rPr>
              <a:t>3. Финал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8" y="3383280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Автофильтр, сводная,
печать, журнал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13716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10698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assets/05_pipeline.png — горизонтальный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libre-macros — что это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Пакет Python-макросов для LibreOffice / AlterOffice Calc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Управляется листом параметров — не «чёрный ящик»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Визард параметров на русском языке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Совместимость с фильтром скриптов AlterOffice 2026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Расширяемость: свои шаги в functions_pp.py / functions_final.py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0"/>
            <a:ext cx="1106424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Не замена всего Excel — слой автоматизации отчётности поверх отечественного офиса.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Как устроен прогон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783080" cy="123444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691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Параметры_
Объединения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41732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A9B8E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097280"/>
            <a:ext cx="1783080" cy="123444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280160"/>
            <a:ext cx="1691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Источники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41732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A9B8E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97280"/>
            <a:ext cx="1783080" cy="123444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80160"/>
            <a:ext cx="1691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Сбор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41732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A9B8E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97280"/>
            <a:ext cx="1783080" cy="123444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1691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Постобработка
(JSON)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41732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A9B8E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097280"/>
            <a:ext cx="1783080" cy="123444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80160"/>
            <a:ext cx="1691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Финал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141732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A9B8E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1097280"/>
            <a:ext cx="1783080" cy="123444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1280160"/>
            <a:ext cx="1691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Журнал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517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Один конфиг или оркестратор нескольких (collect_pack)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Повторяемый сценарий: сохранили книгу параметров — повторили отчёт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Журнал прогона для аудита и разбора сбоев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651760"/>
            <a:ext cx="4846320" cy="32004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886200"/>
            <a:ext cx="4480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assets/07_architecture.png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B3D5C"/>
                </a:solidFill>
                <a:latin typeface="Calibri"/>
              </a:rPr>
              <a:t>Возможности вместо Excel / Power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788920" cy="4754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Сбор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Много файлов и маски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CSV / XML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«Эта книга»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Вовлечение листов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51560"/>
            <a:ext cx="2788920" cy="4754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051560"/>
            <a:ext cx="2788920" cy="50292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115568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Очистка и форма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3736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Дубликаты, замена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Текст, столбцы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Формулы, условный столбец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Разделение столбцов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51560"/>
            <a:ext cx="2788920" cy="4754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51560"/>
            <a:ext cx="2788920" cy="50292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15568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Аналитика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ВПР / lookup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Сводная таблица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Количество значений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Группировка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051560"/>
            <a:ext cx="2788920" cy="4754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051560"/>
            <a:ext cx="2788920" cy="50292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115568"/>
            <a:ext cx="2606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Оформление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73736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Сетка, зебра, градиент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Автофильтр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Печать, закрепление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Форматы денег/дат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A6A78"/>
                </a:solidFill>
                <a:latin typeface="Calibri"/>
              </a:rPr>
              <a:t>Не обещаем «100% Power Query» — закрываем типовые сценарии отчётности; остальное — roadmap.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Типовой сценарий предприятия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502920" cy="50292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9728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Подразделения кладут книги в папку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02920" cy="50292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Ответственный открывает книгу параметров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502920" cy="50292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7744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Запускает сбор (или collect_pack)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502920" cy="50292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1752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Макросы чистят, обогащают, сводят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502920" cy="50292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3931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5760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Готовый лист + автофильтр / сводная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502920" cy="50292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9768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При необходимости — QR, меню, AD-списки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097280"/>
            <a:ext cx="4206240" cy="475488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59" y="3108960"/>
            <a:ext cx="3840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assets/09_scenario.png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Удобство для пользователей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Визард параметров — без ручного JSON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Подписи на русском, выбор столбцов из заголовков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Пресеты типовых сценариев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Меню и контекстное меню в Calc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Версия пакета видна (show_version)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97280"/>
            <a:ext cx="4389120" cy="475488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310896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Лучше реальный скрин
assets/10_wizard_ui.png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Внедрение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Установка скриптов пользователя (Linux / Windows)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LibreOffice и AlterOffice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Проверки совместимости AO 2026 в поставке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Параметры и сценарии — в книге, версионируются с процессом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Свои Python-шаги без переписывания ядра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97280"/>
            <a:ext cx="4389120" cy="475488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310896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assets/11_deploy.png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Эффект и риски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4754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A9B8E"/>
                </a:solidFill>
                <a:latin typeface="Calibri"/>
              </a:rPr>
              <a:t>Эффект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Снижение зависимости от Excel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Повторяемые отчёты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Меньше ручного копирования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Контроль через параметры и журнал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Развитие под свои регламенты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51560"/>
            <a:ext cx="5486400" cy="475488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04A3A"/>
                </a:solidFill>
                <a:latin typeface="Calibri"/>
              </a:rPr>
              <a:t>Риски → митигация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Не всё из PQ сразу → roadmap + пилот 1–2 отчёта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Обучение → визард + инструкция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Качество источников → шаги очистки в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D5C"/>
                </a:solidFill>
                <a:latin typeface="Calibri"/>
              </a:rPr>
              <a:t>Предложение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640080" cy="54864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44752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Утвердить стек: AlterOffice + libre-macros для регламентной отчётности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106424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640080" cy="54864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96312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96312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Пилот: 1–2 критичных отчёта (срок N недель)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1106424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640080" cy="54864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47872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Назначить владельца книги параметров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1064240" cy="914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526280"/>
            <a:ext cx="640080" cy="548640"/>
          </a:xfrm>
          <a:prstGeom prst="roundRect">
            <a:avLst/>
          </a:prstGeom>
          <a:solidFill>
            <a:srgbClr val="1A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99432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99432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По итогам пилота — план тиража и обучение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A6A78"/>
                </a:solidFill>
                <a:latin typeface="Calibri"/>
              </a:rPr>
              <a:t>libre-macros · Предприятие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5A6A7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D6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3063240"/>
            <a:ext cx="118259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A78"/>
                </a:solidFill>
                <a:latin typeface="Calibri"/>
              </a:rPr>
              <a:t>Положите картинку:
assets/14_closing.png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D6EEEA"/>
                </a:solidFill>
                <a:latin typeface="Calibri"/>
              </a:rPr>
              <a:t>Демо стенда · документация docs/ · версия пакета в macro-lib/version.txt
Предприятие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